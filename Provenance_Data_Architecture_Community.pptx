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0F2847"/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0F284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640080" cy="777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777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EA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Provenance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14630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Architecture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640080" y="26517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5-Axis Model  ·  Identity System  ·  Graph Navigation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Service  ·  Event-Driven Lifecycle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3840480"/>
            <a:ext cx="2286000" cy="36576"/>
          </a:xfrm>
          <a:prstGeom prst="rect">
            <a:avLst/>
          </a:prstGeom>
          <a:solidFill>
            <a:srgbClr val="0EA5A0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4023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Marine Aquaculture Platform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6E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WE GOT HERE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Spreadsheets to a Unified Platform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92024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1920240" cy="5486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0759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SeaFoundry Legacy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51790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2022–2025  ·  437 PRs · Rails + React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48640" y="1746504"/>
            <a:ext cx="1737360" cy="32918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75564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Rails 7 · React 18 · TypeScript</a:t>
            </a:r>
            <a:endParaRPr lang="en-US" sz="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PostgreSQL · Heroku · AWS S3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548640" y="2148840"/>
            <a:ext cx="17373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94560"/>
            <a:ext cx="1737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→ Group → Tray → FragCluster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Genotype tracking with aliases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Outplanting events &amp; monitoring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&amp; photo logs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import, Retool dashboards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sensor &amp; gantry integration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17373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04164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Coral-only hierarchy. "Fragment" baked into the data model. One propagation mode assumed.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532888" y="1234440"/>
            <a:ext cx="192024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32888" y="1234440"/>
            <a:ext cx="1920240" cy="54864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16" name="Text 14"/>
          <p:cNvSpPr/>
          <p:nvPr/>
        </p:nvSpPr>
        <p:spPr>
          <a:xfrm>
            <a:off x="2624328" y="130759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0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Candy Exercise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24328" y="151790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 ·  Stress-testing the model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2624328" y="1746504"/>
            <a:ext cx="1737360" cy="32918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2670048" y="175564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Tried mapping diverse coral</a:t>
            </a:r>
            <a:endParaRPr lang="en-US" sz="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workflows onto Legacy's schema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2624328" y="2148840"/>
            <a:ext cx="17373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24328" y="2194560"/>
            <a:ext cx="1737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Sexual recruits didn't fit FragCluster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batches had no container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Cryopreserved gametes had no form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Settled tiles aren't "fragments"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life stage progression model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metrics hard-coded to cm²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624328" y="3977640"/>
            <a:ext cx="17373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24328" y="404164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within coral, the model broke. Fragmentation was one of many propagation modes — not the universal one.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4608576" y="1234440"/>
            <a:ext cx="192024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08576" y="1234440"/>
            <a:ext cx="192024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6" name="Text 24"/>
          <p:cNvSpPr/>
          <p:nvPr/>
        </p:nvSpPr>
        <p:spPr>
          <a:xfrm>
            <a:off x="4700016" y="130759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Babelfish + NewFish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00016" y="151790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2024–2025  ·  Prototyping the crosswalk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4700016" y="1746504"/>
            <a:ext cx="1737360" cy="32918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9" name="Text 27"/>
          <p:cNvSpPr/>
          <p:nvPr/>
        </p:nvSpPr>
        <p:spPr>
          <a:xfrm>
            <a:off x="4745736" y="175564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+ Vite → Next.js 14</a:t>
            </a:r>
            <a:endParaRPr lang="en-US" sz="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Prisma · AWS Lambda · Go parser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4700016" y="2148840"/>
            <a:ext cx="17373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0016" y="2194560"/>
            <a:ext cx="1737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Multi-org genotype crosswalk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CRF/Mote/FWC alias mapping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species, accession tracking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Inter-org gene transfers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pipeline: upload → validate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lineage model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700016" y="3977640"/>
            <a:ext cx="17373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0016" y="404164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 the crosswalk was essential but the CSV-first approach couldn't support field teams.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6684264" y="1234440"/>
            <a:ext cx="192024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684264" y="1234440"/>
            <a:ext cx="1920240" cy="54864"/>
          </a:xfrm>
          <a:prstGeom prst="rect">
            <a:avLst/>
          </a:prstGeom>
          <a:solidFill>
            <a:srgbClr val="0EA5A0"/>
          </a:solidFill>
          <a:ln/>
        </p:spPr>
      </p:sp>
      <p:sp>
        <p:nvSpPr>
          <p:cNvPr id="36" name="Text 34"/>
          <p:cNvSpPr/>
          <p:nvPr/>
        </p:nvSpPr>
        <p:spPr>
          <a:xfrm>
            <a:off x="6775704" y="130759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Provenance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775704" y="151790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2024–Present  ·  Ground-up Flutter rewrite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6775704" y="1746504"/>
            <a:ext cx="1737360" cy="32918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9" name="Text 37"/>
          <p:cNvSpPr/>
          <p:nvPr/>
        </p:nvSpPr>
        <p:spPr>
          <a:xfrm>
            <a:off x="6821424" y="175564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Flutter + Firebase</a:t>
            </a:r>
            <a:endParaRPr lang="en-US" sz="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Mobile-first · Offline-capable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6775704" y="2148840"/>
            <a:ext cx="17373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75704" y="2194560"/>
            <a:ext cx="17373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5-axis composable data model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propagation mode supported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Sexual, asexual, wild, cryo, cohort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form + life stage tracking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ID crosswalk system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✓"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immutable audit trail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775704" y="3977640"/>
            <a:ext cx="173736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75704" y="404164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every mode of restoration — fragmentation, sexual propagation, cohort batches, cryopreservation, wild collection.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2386584" y="260604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4462272" y="260604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537960" y="260604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48" name="Text 46"/>
          <p:cNvSpPr/>
          <p:nvPr/>
        </p:nvSpPr>
        <p:spPr>
          <a:xfrm>
            <a:off x="640080" y="48006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candy exercise proved that even coral restoration needs more than one mode. Provenance was built to support them all.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6E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5-AXIS INVENTORY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Five Composable Dimensions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record is expressed through five composable axes — supporting fragmentation, sexual propagation, cohort batches, wild collection, and more.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25780" y="1737360"/>
            <a:ext cx="15087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25780" y="1737360"/>
            <a:ext cx="150876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525780" y="19202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37744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17220" y="283464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Organism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Species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17220" y="34747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&amp; taxonomy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171700" y="1737360"/>
            <a:ext cx="15087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171700" y="1737360"/>
            <a:ext cx="150876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0"/>
          <p:cNvSpPr/>
          <p:nvPr/>
        </p:nvSpPr>
        <p:spPr>
          <a:xfrm>
            <a:off x="2171700" y="19202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8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237744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263140" y="283464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Provenance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263140" y="34747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story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817620" y="1737360"/>
            <a:ext cx="15087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817620" y="1737360"/>
            <a:ext cx="150876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5"/>
          <p:cNvSpPr/>
          <p:nvPr/>
        </p:nvSpPr>
        <p:spPr>
          <a:xfrm>
            <a:off x="3817620" y="19202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8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237744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909060" y="283464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Life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3909060" y="34747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phase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5463540" y="1737360"/>
            <a:ext cx="15087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463540" y="1737360"/>
            <a:ext cx="15087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0"/>
          <p:cNvSpPr/>
          <p:nvPr/>
        </p:nvSpPr>
        <p:spPr>
          <a:xfrm>
            <a:off x="5463540" y="19202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8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2377440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554980" y="283464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5554980" y="34747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unit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7109460" y="1737360"/>
            <a:ext cx="15087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7109460" y="1737360"/>
            <a:ext cx="1508760" cy="54864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31" name="Text 25"/>
          <p:cNvSpPr/>
          <p:nvPr/>
        </p:nvSpPr>
        <p:spPr>
          <a:xfrm>
            <a:off x="7109460" y="19202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70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800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2377440"/>
            <a:ext cx="365760" cy="36576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7200900" y="283464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Quantity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Size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7200900" y="34747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&amp; measure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640080" y="4343400"/>
            <a:ext cx="73152" cy="457200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36" name="Text 29"/>
          <p:cNvSpPr/>
          <p:nvPr/>
        </p:nvSpPr>
        <p:spPr>
          <a:xfrm>
            <a:off x="822960" y="43251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Immutable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822960" y="453542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Axes 1 &amp; 2 set at creation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3474720" y="4343400"/>
            <a:ext cx="73152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9" name="Text 32"/>
          <p:cNvSpPr/>
          <p:nvPr/>
        </p:nvSpPr>
        <p:spPr>
          <a:xfrm>
            <a:off x="3657600" y="43251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Mutable + Tracked</a:t>
            </a:r>
            <a:endParaRPr lang="en-US" sz="1200" dirty="0"/>
          </a:p>
        </p:txBody>
      </p:sp>
      <p:sp>
        <p:nvSpPr>
          <p:cNvPr id="40" name="Text 33"/>
          <p:cNvSpPr/>
          <p:nvPr/>
        </p:nvSpPr>
        <p:spPr>
          <a:xfrm>
            <a:off x="3657600" y="453542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Axes 3–5 evolve via events</a:t>
            </a:r>
            <a:endParaRPr lang="en-US" sz="1100" dirty="0"/>
          </a:p>
        </p:txBody>
      </p:sp>
      <p:sp>
        <p:nvSpPr>
          <p:cNvPr id="41" name="Shape 34"/>
          <p:cNvSpPr/>
          <p:nvPr/>
        </p:nvSpPr>
        <p:spPr>
          <a:xfrm>
            <a:off x="6309360" y="4343400"/>
            <a:ext cx="73152" cy="4572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2" name="Text 35"/>
          <p:cNvSpPr/>
          <p:nvPr/>
        </p:nvSpPr>
        <p:spPr>
          <a:xfrm>
            <a:off x="6492240" y="43251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Mode-Agnostic</a:t>
            </a:r>
            <a:endParaRPr lang="en-US" sz="1200" dirty="0"/>
          </a:p>
        </p:txBody>
      </p:sp>
      <p:sp>
        <p:nvSpPr>
          <p:cNvPr id="43" name="Text 36"/>
          <p:cNvSpPr/>
          <p:nvPr/>
        </p:nvSpPr>
        <p:spPr>
          <a:xfrm>
            <a:off x="6492240" y="453542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 for every restoration workflow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IDENTITY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Genets vs. Organism Records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3931920" cy="54864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173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417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GENET  —  Genetic Lineage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5800" y="1783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shared DNA identity across all physical instances.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85800" y="2194560"/>
            <a:ext cx="3474720" cy="5486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22219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localId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108960" y="2240280"/>
            <a:ext cx="548640" cy="182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9"/>
          <p:cNvSpPr/>
          <p:nvPr/>
        </p:nvSpPr>
        <p:spPr>
          <a:xfrm>
            <a:off x="3108960" y="222199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777240" y="24688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team's name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560320" y="24688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ACER-001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85800" y="2852928"/>
            <a:ext cx="3474720" cy="5486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" y="2880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provenanceId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108960" y="2898648"/>
            <a:ext cx="548640" cy="182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5"/>
          <p:cNvSpPr/>
          <p:nvPr/>
        </p:nvSpPr>
        <p:spPr>
          <a:xfrm>
            <a:off x="3108960" y="288036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777240" y="31272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Cross-org ID (PID)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2560320" y="31272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PID-AP-0042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85800" y="3511296"/>
            <a:ext cx="3474720" cy="5486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2" name="Text 19"/>
          <p:cNvSpPr/>
          <p:nvPr/>
        </p:nvSpPr>
        <p:spPr>
          <a:xfrm>
            <a:off x="777240" y="35387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(UUID)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108960" y="3557016"/>
            <a:ext cx="548640" cy="1828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4" name="Text 21"/>
          <p:cNvSpPr/>
          <p:nvPr/>
        </p:nvSpPr>
        <p:spPr>
          <a:xfrm>
            <a:off x="3108960" y="353872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777240" y="378561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primary key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2560320" y="37856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c9a1f2e8...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754880" y="123444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754880" y="1234440"/>
            <a:ext cx="3931920" cy="54864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417320"/>
            <a:ext cx="320040" cy="32004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5394960" y="1417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RECORD  —  Physical Instance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4983480" y="1783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fragment, colony, or batch tracked individually.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4983480" y="2194560"/>
            <a:ext cx="3474720" cy="42062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3" name="Text 29"/>
          <p:cNvSpPr/>
          <p:nvPr/>
        </p:nvSpPr>
        <p:spPr>
          <a:xfrm>
            <a:off x="5074920" y="221284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recordName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7132320" y="2231136"/>
            <a:ext cx="640080" cy="164592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35" name="Text 31"/>
          <p:cNvSpPr/>
          <p:nvPr/>
        </p:nvSpPr>
        <p:spPr>
          <a:xfrm>
            <a:off x="7132320" y="22128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5074920" y="241401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Friendly nickname  "Crimson"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4983480" y="2706624"/>
            <a:ext cx="3474720" cy="42062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8" name="Text 34"/>
          <p:cNvSpPr/>
          <p:nvPr/>
        </p:nvSpPr>
        <p:spPr>
          <a:xfrm>
            <a:off x="5074920" y="272491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localId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7132320" y="2743200"/>
            <a:ext cx="640080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0" name="Text 36"/>
          <p:cNvSpPr/>
          <p:nvPr/>
        </p:nvSpPr>
        <p:spPr>
          <a:xfrm>
            <a:off x="7132320" y="272491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Inherited</a:t>
            </a:r>
            <a:endParaRPr lang="en-US" sz="800" dirty="0"/>
          </a:p>
        </p:txBody>
      </p:sp>
      <p:sp>
        <p:nvSpPr>
          <p:cNvPr id="41" name="Text 37"/>
          <p:cNvSpPr/>
          <p:nvPr/>
        </p:nvSpPr>
        <p:spPr>
          <a:xfrm>
            <a:off x="5074920" y="292608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as its genet  ACER-001</a:t>
            </a:r>
            <a:endParaRPr lang="en-US" sz="900" dirty="0"/>
          </a:p>
        </p:txBody>
      </p:sp>
      <p:sp>
        <p:nvSpPr>
          <p:cNvPr id="42" name="Shape 38"/>
          <p:cNvSpPr/>
          <p:nvPr/>
        </p:nvSpPr>
        <p:spPr>
          <a:xfrm>
            <a:off x="4983480" y="3218688"/>
            <a:ext cx="3474720" cy="42062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3" name="Text 39"/>
          <p:cNvSpPr/>
          <p:nvPr/>
        </p:nvSpPr>
        <p:spPr>
          <a:xfrm>
            <a:off x="5074920" y="323697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provenanceId</a:t>
            </a:r>
            <a:endParaRPr lang="en-US" sz="1000" dirty="0"/>
          </a:p>
        </p:txBody>
      </p:sp>
      <p:sp>
        <p:nvSpPr>
          <p:cNvPr id="44" name="Shape 40"/>
          <p:cNvSpPr/>
          <p:nvPr/>
        </p:nvSpPr>
        <p:spPr>
          <a:xfrm>
            <a:off x="7132320" y="3255264"/>
            <a:ext cx="640080" cy="1645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5" name="Text 41"/>
          <p:cNvSpPr/>
          <p:nvPr/>
        </p:nvSpPr>
        <p:spPr>
          <a:xfrm>
            <a:off x="7132320" y="323697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Inherited</a:t>
            </a:r>
            <a:endParaRPr lang="en-US" sz="800" dirty="0"/>
          </a:p>
        </p:txBody>
      </p:sp>
      <p:sp>
        <p:nvSpPr>
          <p:cNvPr id="46" name="Text 42"/>
          <p:cNvSpPr/>
          <p:nvPr/>
        </p:nvSpPr>
        <p:spPr>
          <a:xfrm>
            <a:off x="5074920" y="3438144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cross-org ID  PID-AP-0042</a:t>
            </a:r>
            <a:endParaRPr lang="en-US" sz="900" dirty="0"/>
          </a:p>
        </p:txBody>
      </p:sp>
      <p:sp>
        <p:nvSpPr>
          <p:cNvPr id="47" name="Shape 43"/>
          <p:cNvSpPr/>
          <p:nvPr/>
        </p:nvSpPr>
        <p:spPr>
          <a:xfrm>
            <a:off x="4983480" y="3730752"/>
            <a:ext cx="3474720" cy="420624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8" name="Text 44"/>
          <p:cNvSpPr/>
          <p:nvPr/>
        </p:nvSpPr>
        <p:spPr>
          <a:xfrm>
            <a:off x="5074920" y="37490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(UUID)</a:t>
            </a:r>
            <a:endParaRPr lang="en-US" sz="1000" dirty="0"/>
          </a:p>
        </p:txBody>
      </p:sp>
      <p:sp>
        <p:nvSpPr>
          <p:cNvPr id="49" name="Shape 45"/>
          <p:cNvSpPr/>
          <p:nvPr/>
        </p:nvSpPr>
        <p:spPr>
          <a:xfrm>
            <a:off x="7132320" y="3767328"/>
            <a:ext cx="640080" cy="16459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0" name="Text 46"/>
          <p:cNvSpPr/>
          <p:nvPr/>
        </p:nvSpPr>
        <p:spPr>
          <a:xfrm>
            <a:off x="7132320" y="374904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800" dirty="0"/>
          </a:p>
        </p:txBody>
      </p:sp>
      <p:sp>
        <p:nvSpPr>
          <p:cNvPr id="51" name="Text 47"/>
          <p:cNvSpPr/>
          <p:nvPr/>
        </p:nvSpPr>
        <p:spPr>
          <a:xfrm>
            <a:off x="5074920" y="395020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instance's key  d4e7a1b3...</a:t>
            </a:r>
            <a:endParaRPr lang="en-US" sz="900" dirty="0"/>
          </a:p>
        </p:txBody>
      </p:sp>
      <p:sp>
        <p:nvSpPr>
          <p:cNvPr id="52" name="Shape 48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53" name="Text 49"/>
          <p:cNvSpPr/>
          <p:nvPr/>
        </p:nvSpPr>
        <p:spPr>
          <a:xfrm>
            <a:off x="640080" y="4599432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localId + provenanceId = "What genetic lineage?"       recordName + UUID = "Which physical instance?"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GENET, MANY RECORDS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Concrete Example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7432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73152" cy="25603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71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600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ACER-001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205740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Species: </a:t>
            </a:r>
            <a:pPr indent="0" marL="0">
              <a:lnSpc>
                <a:spcPct val="160000"/>
              </a:lnSpc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cervicornis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PID: </a:t>
            </a:r>
            <a:pPr indent="0" marL="0">
              <a:lnSpc>
                <a:spcPct val="160000"/>
              </a:lnSpc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PID-AP-0042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Provenance: </a:t>
            </a:r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 collection</a:t>
            </a:r>
            <a:endParaRPr lang="en-US" sz="10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date: </a:t>
            </a:r>
            <a:pPr indent="0" marL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2023-06-15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46120" y="22860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localId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2606040"/>
            <a:ext cx="914400" cy="0"/>
          </a:xfrm>
          <a:prstGeom prst="line">
            <a:avLst/>
          </a:prstGeom>
          <a:noFill/>
          <a:ln w="19050">
            <a:solidFill>
              <a:srgbClr val="8B5CF6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4297680" y="1280160"/>
            <a:ext cx="43891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97680" y="1280160"/>
            <a:ext cx="54864" cy="7772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1325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"Crimson"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13258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localId: ACER-001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480560" y="1645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Tank A · Nursery  ·  15 fragments · adult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97680" y="2194560"/>
            <a:ext cx="43891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97680" y="2194560"/>
            <a:ext cx="54864" cy="7772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8" name="Text 16"/>
          <p:cNvSpPr/>
          <p:nvPr/>
        </p:nvSpPr>
        <p:spPr>
          <a:xfrm>
            <a:off x="4480560" y="2240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"Blaze"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0" y="22402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localId: ACER-001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480560" y="2560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Tank B · Nursery  ·  8 fragments · adult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97680" y="3108960"/>
            <a:ext cx="43891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297680" y="3108960"/>
            <a:ext cx="54864" cy="7772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3" name="Text 21"/>
          <p:cNvSpPr/>
          <p:nvPr/>
        </p:nvSpPr>
        <p:spPr>
          <a:xfrm>
            <a:off x="4480560" y="3154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"Reef Site 12"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0" y="31546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localId: ACER-001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480560" y="3474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Outplant Zone C  ·  1 colony · adult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069080"/>
            <a:ext cx="8229600" cy="86868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11480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records share the same localId (ACER-001) and provenanceId — proving they are genetically identical.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has its own recordName and UUID to distinguish the physical instance.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SEXUAL PROPAGATION &amp; MATURATION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Gametes to Tracked Individuals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1554480" cy="2651760"/>
          </a:xfrm>
          <a:prstGeom prst="rect">
            <a:avLst/>
          </a:prstGeom>
          <a:solidFill>
            <a:srgbClr val="0F2847"/>
          </a:solidFill>
          <a:ln/>
        </p:spPr>
      </p:sp>
      <p:sp>
        <p:nvSpPr>
          <p:cNvPr id="5" name="Shape 3"/>
          <p:cNvSpPr/>
          <p:nvPr/>
        </p:nvSpPr>
        <p:spPr>
          <a:xfrm>
            <a:off x="411480" y="1097280"/>
            <a:ext cx="1554480" cy="54864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1887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70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Gamete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Broodstock spawns.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Eggs + sperm collected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containers.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1280160" cy="201168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7889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2920" y="30632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970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gamete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965960" y="173736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103120" y="1097280"/>
            <a:ext cx="1554480" cy="2651760"/>
          </a:xfrm>
          <a:prstGeom prst="rect">
            <a:avLst/>
          </a:prstGeom>
          <a:solidFill>
            <a:srgbClr val="0F2847"/>
          </a:solidFill>
          <a:ln/>
        </p:spPr>
      </p:sp>
      <p:sp>
        <p:nvSpPr>
          <p:cNvPr id="14" name="Shape 12"/>
          <p:cNvSpPr/>
          <p:nvPr/>
        </p:nvSpPr>
        <p:spPr>
          <a:xfrm>
            <a:off x="2103120" y="1097280"/>
            <a:ext cx="155448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2103120" y="11887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194560" y="15087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94560" y="19659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 × Sire gametes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combined. Creates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cohort.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40280" y="2788920"/>
            <a:ext cx="1280160" cy="20116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2240280" y="27889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194560" y="30632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embryo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657600" y="173736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794760" y="1097280"/>
            <a:ext cx="1554480" cy="2651760"/>
          </a:xfrm>
          <a:prstGeom prst="rect">
            <a:avLst/>
          </a:prstGeom>
          <a:solidFill>
            <a:srgbClr val="0F2847"/>
          </a:solidFill>
          <a:ln/>
        </p:spPr>
      </p:sp>
      <p:sp>
        <p:nvSpPr>
          <p:cNvPr id="23" name="Shape 21"/>
          <p:cNvSpPr/>
          <p:nvPr/>
        </p:nvSpPr>
        <p:spPr>
          <a:xfrm>
            <a:off x="3794760" y="1097280"/>
            <a:ext cx="155448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4" name="Text 22"/>
          <p:cNvSpPr/>
          <p:nvPr/>
        </p:nvSpPr>
        <p:spPr>
          <a:xfrm>
            <a:off x="3794760" y="11887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886200" y="15087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Settlement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Growth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886200" y="19659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Larvae settle on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substrates. Counted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density per unit.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931920" y="2788920"/>
            <a:ext cx="1280160" cy="20116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8" name="Text 26"/>
          <p:cNvSpPr/>
          <p:nvPr/>
        </p:nvSpPr>
        <p:spPr>
          <a:xfrm>
            <a:off x="3931920" y="27889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substrate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886200" y="30632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recruit → juvenile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349240" y="173736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486400" y="1097280"/>
            <a:ext cx="1554480" cy="2651760"/>
          </a:xfrm>
          <a:prstGeom prst="rect">
            <a:avLst/>
          </a:prstGeom>
          <a:solidFill>
            <a:srgbClr val="0F2847"/>
          </a:solidFill>
          <a:ln/>
        </p:spPr>
      </p:sp>
      <p:sp>
        <p:nvSpPr>
          <p:cNvPr id="32" name="Shape 30"/>
          <p:cNvSpPr/>
          <p:nvPr/>
        </p:nvSpPr>
        <p:spPr>
          <a:xfrm>
            <a:off x="5486400" y="1097280"/>
            <a:ext cx="15544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0" y="11887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577840" y="15087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Cohort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Management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577840" y="19659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tracked as a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collective. Individuals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distinguished.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23560" y="2788920"/>
            <a:ext cx="1280160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5623560" y="27889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substrate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577840" y="30632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juvenile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040880" y="173736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178040" y="1097280"/>
            <a:ext cx="1554480" cy="2651760"/>
          </a:xfrm>
          <a:prstGeom prst="rect">
            <a:avLst/>
          </a:prstGeom>
          <a:solidFill>
            <a:srgbClr val="0F2847"/>
          </a:solidFill>
          <a:ln/>
        </p:spPr>
      </p:sp>
      <p:sp>
        <p:nvSpPr>
          <p:cNvPr id="41" name="Shape 39"/>
          <p:cNvSpPr/>
          <p:nvPr/>
        </p:nvSpPr>
        <p:spPr>
          <a:xfrm>
            <a:off x="7178040" y="1097280"/>
            <a:ext cx="15544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2" name="Text 40"/>
          <p:cNvSpPr/>
          <p:nvPr/>
        </p:nvSpPr>
        <p:spPr>
          <a:xfrm>
            <a:off x="7178040" y="11887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7269480" y="15087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Graduation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269480" y="19659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individuals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promoted to solo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as adults.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315200" y="2788920"/>
            <a:ext cx="1280160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6" name="Text 44"/>
          <p:cNvSpPr/>
          <p:nvPr/>
        </p:nvSpPr>
        <p:spPr>
          <a:xfrm>
            <a:off x="7315200" y="27889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269480" y="30632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adult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57200" y="3931920"/>
            <a:ext cx="3931920" cy="502920"/>
          </a:xfrm>
          <a:prstGeom prst="rect">
            <a:avLst/>
          </a:prstGeom>
          <a:solidFill>
            <a:srgbClr val="0F3D2E"/>
          </a:solidFill>
          <a:ln/>
        </p:spPr>
      </p:sp>
      <p:sp>
        <p:nvSpPr>
          <p:cNvPr id="49" name="Text 47"/>
          <p:cNvSpPr/>
          <p:nvPr/>
        </p:nvSpPr>
        <p:spPr>
          <a:xfrm>
            <a:off x="594360" y="395020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Type changes from cohort → sexual recruit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graduation. localId and provenanceId remain the same.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754880" y="3931920"/>
            <a:ext cx="3931920" cy="502920"/>
          </a:xfrm>
          <a:prstGeom prst="rect">
            <a:avLst/>
          </a:prstGeom>
          <a:solidFill>
            <a:srgbClr val="0D2847"/>
          </a:solidFill>
          <a:ln/>
        </p:spPr>
      </p:sp>
      <p:sp>
        <p:nvSpPr>
          <p:cNvPr id="51" name="Text 49"/>
          <p:cNvSpPr/>
          <p:nvPr/>
        </p:nvSpPr>
        <p:spPr>
          <a:xfrm>
            <a:off x="4892040" y="395020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pipeline captures sexual propagation workflows —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spawning events through settlement, cohort management, and individual graduation.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solidFill>
            <a:srgbClr val="0F2847"/>
          </a:solidFill>
          <a:ln/>
        </p:spPr>
      </p:sp>
      <p:sp>
        <p:nvSpPr>
          <p:cNvPr id="53" name="Text 51"/>
          <p:cNvSpPr/>
          <p:nvPr/>
        </p:nvSpPr>
        <p:spPr>
          <a:xfrm>
            <a:off x="640080" y="46360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A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Physical form transitions: container (gametes) → shared substrate (settled cohort) → individual (graduated adult)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6E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5-AXIS MODEL IN PRACTICE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Real-World Record Examples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combination of axes produces a distinct record type — the same model handles all restoration use cases.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269748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17320"/>
            <a:ext cx="26974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Shape 5"/>
          <p:cNvSpPr/>
          <p:nvPr/>
        </p:nvSpPr>
        <p:spPr>
          <a:xfrm>
            <a:off x="2057400" y="1527048"/>
            <a:ext cx="868680" cy="8686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2057400" y="1755648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image</a:t>
            </a:r>
            <a:endParaRPr lang="en-US" sz="70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29768" y="152704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Traditional Plug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" y="176479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graduated coral fragment mounted on a cement plug, tracked individually by name.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29768" y="2450592"/>
            <a:ext cx="2478024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252374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Organism / Species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481328" y="2523744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Coral · Acropora cervicornis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29768" y="276148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localId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481328" y="2761488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ACER-001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29768" y="29992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recordName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481328" y="2999232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Fluffy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29768" y="323697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Type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481328" y="3236976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sexualRecruit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29768" y="347472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Stage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481328" y="3474720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adult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29768" y="371246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Form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1481328" y="3712464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individual · plug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29768" y="395020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Band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1481328" y="3950208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(5–15 cm²)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29768" y="418795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Area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1481328" y="4187952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12.4 cm²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29768" y="442569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1481328" y="4425696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Nursery Ex-Situ · Tank 3 · Tree 5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3127248" y="1417320"/>
            <a:ext cx="269748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127248" y="1417320"/>
            <a:ext cx="269748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2" name="Shape 30"/>
          <p:cNvSpPr/>
          <p:nvPr/>
        </p:nvSpPr>
        <p:spPr>
          <a:xfrm>
            <a:off x="4864608" y="1527048"/>
            <a:ext cx="868680" cy="8686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4864608" y="1755648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image</a:t>
            </a:r>
            <a:endParaRPr lang="en-US" sz="70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236976" y="152704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Wild-Collected Clipping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236976" y="176479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cut from a wild colony during a field collection event. Unmounted fragment.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236976" y="2450592"/>
            <a:ext cx="2478024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36976" y="252374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Organism / Species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4288536" y="2523744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Coral · Orbicella faveolata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3236976" y="276148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localId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4288536" y="2761488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OFAV-WC-042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3236976" y="29992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recordName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4288536" y="2999232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Boulder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3236976" y="323697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Type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4288536" y="3236976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founder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3236976" y="347472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Stage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4288536" y="3474720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adult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3236976" y="371246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Form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4288536" y="3712464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individual · branch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3236976" y="395020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Band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4288536" y="3950208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(15–50 cm²)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3236976" y="418795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Area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4288536" y="4187952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38.1 cm²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3236976" y="442569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4288536" y="4425696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Nursery In-Situ · Reef Line A · Tree 12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5934456" y="1417320"/>
            <a:ext cx="269748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5934456" y="1417320"/>
            <a:ext cx="269748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7" name="Shape 55"/>
          <p:cNvSpPr/>
          <p:nvPr/>
        </p:nvSpPr>
        <p:spPr>
          <a:xfrm>
            <a:off x="7671816" y="1527048"/>
            <a:ext cx="868680" cy="8686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dash"/>
          </a:ln>
        </p:spPr>
      </p:sp>
      <p:sp>
        <p:nvSpPr>
          <p:cNvPr id="58" name="Text 56"/>
          <p:cNvSpPr/>
          <p:nvPr/>
        </p:nvSpPr>
        <p:spPr>
          <a:xfrm>
            <a:off x="7671816" y="1755648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image</a:t>
            </a:r>
            <a:endParaRPr lang="en-US" sz="70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6044184" y="152704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Cryopreserved Sperm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6044184" y="176479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sperm in a labeled vial. Size = density per volume. Volumetric counting mode.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6044184" y="2450592"/>
            <a:ext cx="2478024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044184" y="252374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Organism / Species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7095744" y="2523744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Coral · Acropora palmata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6044184" y="276148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localId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7095744" y="2761488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APAL-BS-007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6044184" y="29992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recordName</a:t>
            </a:r>
            <a:endParaRPr lang="en-US" sz="650" dirty="0"/>
          </a:p>
        </p:txBody>
      </p:sp>
      <p:sp>
        <p:nvSpPr>
          <p:cNvPr id="67" name="Text 65"/>
          <p:cNvSpPr/>
          <p:nvPr/>
        </p:nvSpPr>
        <p:spPr>
          <a:xfrm>
            <a:off x="7095744" y="2999232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Straw 7-A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6044184" y="323697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Type</a:t>
            </a:r>
            <a:endParaRPr lang="en-US" sz="650" dirty="0"/>
          </a:p>
        </p:txBody>
      </p:sp>
      <p:sp>
        <p:nvSpPr>
          <p:cNvPr id="69" name="Text 67"/>
          <p:cNvSpPr/>
          <p:nvPr/>
        </p:nvSpPr>
        <p:spPr>
          <a:xfrm>
            <a:off x="7095744" y="3236976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founder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6044184" y="347472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Stage</a:t>
            </a:r>
            <a:endParaRPr lang="en-US" sz="650" dirty="0"/>
          </a:p>
        </p:txBody>
      </p:sp>
      <p:sp>
        <p:nvSpPr>
          <p:cNvPr id="71" name="Text 69"/>
          <p:cNvSpPr/>
          <p:nvPr/>
        </p:nvSpPr>
        <p:spPr>
          <a:xfrm>
            <a:off x="7095744" y="3474720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gamete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6044184" y="371246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Form</a:t>
            </a:r>
            <a:endParaRPr lang="en-US" sz="650" dirty="0"/>
          </a:p>
        </p:txBody>
      </p:sp>
      <p:sp>
        <p:nvSpPr>
          <p:cNvPr id="73" name="Text 71"/>
          <p:cNvSpPr/>
          <p:nvPr/>
        </p:nvSpPr>
        <p:spPr>
          <a:xfrm>
            <a:off x="7095744" y="3712464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 · vial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6044184" y="395020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Band</a:t>
            </a:r>
            <a:endParaRPr lang="en-US" sz="650" dirty="0"/>
          </a:p>
        </p:txBody>
      </p:sp>
      <p:sp>
        <p:nvSpPr>
          <p:cNvPr id="75" name="Text 73"/>
          <p:cNvSpPr/>
          <p:nvPr/>
        </p:nvSpPr>
        <p:spPr>
          <a:xfrm>
            <a:off x="7095744" y="3950208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XS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6044184" y="418795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</a:t>
            </a:r>
            <a:endParaRPr lang="en-US" sz="650" dirty="0"/>
          </a:p>
        </p:txBody>
      </p:sp>
      <p:sp>
        <p:nvSpPr>
          <p:cNvPr id="77" name="Text 75"/>
          <p:cNvSpPr/>
          <p:nvPr/>
        </p:nvSpPr>
        <p:spPr>
          <a:xfrm>
            <a:off x="7095744" y="4187952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~500 sperm/mL · 0.5 mL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6044184" y="442569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650" dirty="0"/>
          </a:p>
        </p:txBody>
      </p:sp>
      <p:sp>
        <p:nvSpPr>
          <p:cNvPr id="79" name="Text 77"/>
          <p:cNvSpPr/>
          <p:nvPr/>
        </p:nvSpPr>
        <p:spPr>
          <a:xfrm>
            <a:off x="7095744" y="4425696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 Bank · Cryo Dewar 2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457200" y="5102352"/>
            <a:ext cx="8229600" cy="27432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81" name="Text 79"/>
          <p:cNvSpPr/>
          <p:nvPr/>
        </p:nvSpPr>
        <p:spPr>
          <a:xfrm>
            <a:off x="640080" y="51023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card is one OrganismRecord in the database — localId links it to a genet, recordName distinguishes the physical instance.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6E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5-AXIS MODEL IN PRACTICE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Restoration Modes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batch cohorts to individual outplants — every restoration workflow maps onto the same 5-axis structure.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269748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17320"/>
            <a:ext cx="26974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2057400" y="1527048"/>
            <a:ext cx="868680" cy="8686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2057400" y="1755648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image</a:t>
            </a:r>
            <a:endParaRPr lang="en-US" sz="70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29768" y="152704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Settled Cohort on Tile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" y="176479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Sexually-crossed recruits settled on a ceramic tile. Batch-tracked by density per substrate.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29768" y="2450592"/>
            <a:ext cx="2478024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252374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Organism / Species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481328" y="2523744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Coral · Acropora cervicornis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29768" y="276148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localId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481328" y="2761488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ACER-C24-001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29768" y="29992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recordName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481328" y="2999232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Tile 14-B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29768" y="323697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Type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1481328" y="3236976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cohort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29768" y="347472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Stage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481328" y="3474720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recruit → juvenile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29768" y="371246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Form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1481328" y="3712464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sharedSubstrate · tile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29768" y="395020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Band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1481328" y="3950208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29768" y="418795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1481328" y="4187952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3.2 recruits / tile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29768" y="442569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1481328" y="4425696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Nursery Ex-Situ · Tank 1 · Tray A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3127248" y="1417320"/>
            <a:ext cx="269748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127248" y="1417320"/>
            <a:ext cx="2697480" cy="54864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32" name="Shape 30"/>
          <p:cNvSpPr/>
          <p:nvPr/>
        </p:nvSpPr>
        <p:spPr>
          <a:xfrm>
            <a:off x="4864608" y="1527048"/>
            <a:ext cx="868680" cy="8686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4864608" y="1755648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image</a:t>
            </a:r>
            <a:endParaRPr lang="en-US" sz="70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236976" y="152704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0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Nursery Tree Fragment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236976" y="176479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Asexually fragmented coral mounted on a nursery tree in the ocean. Classic asexual propagation.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236976" y="2450592"/>
            <a:ext cx="2478024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36976" y="252374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Organism / Species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4288536" y="2523744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Coral · Acropora cervicornis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3236976" y="276148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localId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4288536" y="2761488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ACER-F-019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3236976" y="29992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recordName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4288536" y="2999232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Sunrise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3236976" y="323697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Type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4288536" y="3236976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asexualPropagule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3236976" y="347472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Stage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4288536" y="3474720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adult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3236976" y="371246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Form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4288536" y="3712464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individual · hangingFragment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3236976" y="395020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Band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4288536" y="3950208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(15–50 cm²)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3236976" y="418795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Area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4288536" y="4187952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28.7 cm²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3236976" y="442569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4288536" y="4425696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Nursery In-Situ · Tree Line B · Tree 8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5934456" y="1417320"/>
            <a:ext cx="269748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5934456" y="1417320"/>
            <a:ext cx="2697480" cy="54864"/>
          </a:xfrm>
          <a:prstGeom prst="rect">
            <a:avLst/>
          </a:prstGeom>
          <a:solidFill>
            <a:srgbClr val="0D6E8A"/>
          </a:solidFill>
          <a:ln/>
        </p:spPr>
      </p:sp>
      <p:sp>
        <p:nvSpPr>
          <p:cNvPr id="57" name="Shape 55"/>
          <p:cNvSpPr/>
          <p:nvPr/>
        </p:nvSpPr>
        <p:spPr>
          <a:xfrm>
            <a:off x="7671816" y="1527048"/>
            <a:ext cx="868680" cy="8686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dash"/>
          </a:ln>
        </p:spPr>
      </p:sp>
      <p:sp>
        <p:nvSpPr>
          <p:cNvPr id="58" name="Text 56"/>
          <p:cNvSpPr/>
          <p:nvPr/>
        </p:nvSpPr>
        <p:spPr>
          <a:xfrm>
            <a:off x="7671816" y="1755648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image</a:t>
            </a:r>
            <a:endParaRPr lang="en-US" sz="70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6044184" y="152704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6E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Outplanted Colony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6044184" y="176479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graduated coral attached directly to a reef substrate. Tracking survival post-deployment.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6044184" y="2450592"/>
            <a:ext cx="2478024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044184" y="252374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Organism / Species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7095744" y="2523744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Coral · Orbicella annularis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6044184" y="276148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localId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7095744" y="2761488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OANN-SR-005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6044184" y="29992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recordName</a:t>
            </a:r>
            <a:endParaRPr lang="en-US" sz="650" dirty="0"/>
          </a:p>
        </p:txBody>
      </p:sp>
      <p:sp>
        <p:nvSpPr>
          <p:cNvPr id="67" name="Text 65"/>
          <p:cNvSpPr/>
          <p:nvPr/>
        </p:nvSpPr>
        <p:spPr>
          <a:xfrm>
            <a:off x="7095744" y="2999232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Reef Star 5A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6044184" y="323697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Type</a:t>
            </a:r>
            <a:endParaRPr lang="en-US" sz="650" dirty="0"/>
          </a:p>
        </p:txBody>
      </p:sp>
      <p:sp>
        <p:nvSpPr>
          <p:cNvPr id="69" name="Text 67"/>
          <p:cNvSpPr/>
          <p:nvPr/>
        </p:nvSpPr>
        <p:spPr>
          <a:xfrm>
            <a:off x="7095744" y="3236976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sexualRecruit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6044184" y="3474720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Stage</a:t>
            </a:r>
            <a:endParaRPr lang="en-US" sz="650" dirty="0"/>
          </a:p>
        </p:txBody>
      </p:sp>
      <p:sp>
        <p:nvSpPr>
          <p:cNvPr id="71" name="Text 69"/>
          <p:cNvSpPr/>
          <p:nvPr/>
        </p:nvSpPr>
        <p:spPr>
          <a:xfrm>
            <a:off x="7095744" y="3474720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adult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6044184" y="371246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Form</a:t>
            </a:r>
            <a:endParaRPr lang="en-US" sz="650" dirty="0"/>
          </a:p>
        </p:txBody>
      </p:sp>
      <p:sp>
        <p:nvSpPr>
          <p:cNvPr id="73" name="Text 71"/>
          <p:cNvSpPr/>
          <p:nvPr/>
        </p:nvSpPr>
        <p:spPr>
          <a:xfrm>
            <a:off x="7095744" y="3712464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individual · reefAttached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6044184" y="395020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Band</a:t>
            </a:r>
            <a:endParaRPr lang="en-US" sz="650" dirty="0"/>
          </a:p>
        </p:txBody>
      </p:sp>
      <p:sp>
        <p:nvSpPr>
          <p:cNvPr id="75" name="Text 73"/>
          <p:cNvSpPr/>
          <p:nvPr/>
        </p:nvSpPr>
        <p:spPr>
          <a:xfrm>
            <a:off x="7095744" y="3950208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(5–15 cm²)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6044184" y="418795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Area</a:t>
            </a:r>
            <a:endParaRPr lang="en-US" sz="650" dirty="0"/>
          </a:p>
        </p:txBody>
      </p:sp>
      <p:sp>
        <p:nvSpPr>
          <p:cNvPr id="77" name="Text 75"/>
          <p:cNvSpPr/>
          <p:nvPr/>
        </p:nvSpPr>
        <p:spPr>
          <a:xfrm>
            <a:off x="7095744" y="4187952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9.8 cm²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6044184" y="442569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650" dirty="0"/>
          </a:p>
        </p:txBody>
      </p:sp>
      <p:sp>
        <p:nvSpPr>
          <p:cNvPr id="79" name="Text 77"/>
          <p:cNvSpPr/>
          <p:nvPr/>
        </p:nvSpPr>
        <p:spPr>
          <a:xfrm>
            <a:off x="7095744" y="4425696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Outplanting · Carysfort Reef · Zone C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457200" y="5102352"/>
            <a:ext cx="8229600" cy="27432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81" name="Text 79"/>
          <p:cNvSpPr/>
          <p:nvPr/>
        </p:nvSpPr>
        <p:spPr>
          <a:xfrm>
            <a:off x="640080" y="51023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your own images into the placeholders — the same 5-axis structure captures every restoration workflow.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PROPAGATION, SPLITS &amp; MERGES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One Genet Becomes Many Records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operation creates new records that inherit the same localId and provenanceId — the genetic thread is never broken.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0" y="1463040"/>
            <a:ext cx="2743200" cy="36576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0" y="1463040"/>
            <a:ext cx="54864" cy="3657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0" y="1463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ACER-001  ·  PID-AP-0042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965960"/>
            <a:ext cx="20574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965960"/>
            <a:ext cx="2057400" cy="45720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05740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0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Fragment (Split)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2860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Colony broken into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fragments for nursery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propagation.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65760" y="2816352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65760" y="2962656"/>
            <a:ext cx="1874520" cy="20116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296265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colony · 450 cm²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74320" y="316382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7066"/>
                </a:solidFill>
              </a:rPr>
              <a:t>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5760" y="3346704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365760" y="3493008"/>
            <a:ext cx="1874520" cy="201168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18" name="Shape 16"/>
          <p:cNvSpPr/>
          <p:nvPr/>
        </p:nvSpPr>
        <p:spPr>
          <a:xfrm>
            <a:off x="365760" y="3493008"/>
            <a:ext cx="36576" cy="201168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49300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· 200 cm²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65760" y="3721608"/>
            <a:ext cx="1874520" cy="201168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21" name="Shape 19"/>
          <p:cNvSpPr/>
          <p:nvPr/>
        </p:nvSpPr>
        <p:spPr>
          <a:xfrm>
            <a:off x="365760" y="3721608"/>
            <a:ext cx="36576" cy="201168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72160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frag-F1 · 80 cm²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65760" y="3950208"/>
            <a:ext cx="1874520" cy="201168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24" name="Shape 22"/>
          <p:cNvSpPr/>
          <p:nvPr/>
        </p:nvSpPr>
        <p:spPr>
          <a:xfrm>
            <a:off x="365760" y="3950208"/>
            <a:ext cx="36576" cy="201168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95020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frag-F2 · 80 cm²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02920" y="4663440"/>
            <a:ext cx="1600200" cy="182880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466344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records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514600" y="1965960"/>
            <a:ext cx="20574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514600" y="1965960"/>
            <a:ext cx="205740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2606040" y="205740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Merge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606040" y="22860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Fragments from same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 combined back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one tracking unit.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606040" y="2816352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2606040" y="2962656"/>
            <a:ext cx="1874520" cy="20116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4" name="Text 32"/>
          <p:cNvSpPr/>
          <p:nvPr/>
        </p:nvSpPr>
        <p:spPr>
          <a:xfrm>
            <a:off x="2651760" y="296265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records · same genet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514600" y="316382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↓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2606040" y="3346704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2606040" y="3493008"/>
            <a:ext cx="1874520" cy="201168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8" name="Shape 36"/>
          <p:cNvSpPr/>
          <p:nvPr/>
        </p:nvSpPr>
        <p:spPr>
          <a:xfrm>
            <a:off x="2606040" y="3493008"/>
            <a:ext cx="36576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9" name="Text 37"/>
          <p:cNvSpPr/>
          <p:nvPr/>
        </p:nvSpPr>
        <p:spPr>
          <a:xfrm>
            <a:off x="2697480" y="349300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· 350 cm²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743200" y="4663440"/>
            <a:ext cx="1600200" cy="182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1" name="Text 39"/>
          <p:cNvSpPr/>
          <p:nvPr/>
        </p:nvSpPr>
        <p:spPr>
          <a:xfrm>
            <a:off x="2743200" y="466344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→ 1 record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754880" y="1965960"/>
            <a:ext cx="20574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754880" y="1965960"/>
            <a:ext cx="2057400" cy="45720"/>
          </a:xfrm>
          <a:prstGeom prst="rect">
            <a:avLst/>
          </a:prstGeom>
          <a:solidFill>
            <a:srgbClr val="0D6E8A"/>
          </a:solidFill>
          <a:ln/>
        </p:spPr>
      </p:sp>
      <p:sp>
        <p:nvSpPr>
          <p:cNvPr id="44" name="Text 42"/>
          <p:cNvSpPr/>
          <p:nvPr/>
        </p:nvSpPr>
        <p:spPr>
          <a:xfrm>
            <a:off x="4846320" y="205740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6E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Outplant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846320" y="22860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Fragments distributed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different reef sites,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tracked solo.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846320" y="2816352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4846320" y="2962656"/>
            <a:ext cx="1874520" cy="20116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8" name="Text 46"/>
          <p:cNvSpPr/>
          <p:nvPr/>
        </p:nvSpPr>
        <p:spPr>
          <a:xfrm>
            <a:off x="4892040" y="296265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frags in Tank A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754880" y="316382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6E8A"/>
                </a:solidFill>
              </a:rPr>
              <a:t>↓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4846320" y="3346704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4846320" y="3493008"/>
            <a:ext cx="1874520" cy="201168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52" name="Shape 50"/>
          <p:cNvSpPr/>
          <p:nvPr/>
        </p:nvSpPr>
        <p:spPr>
          <a:xfrm>
            <a:off x="4846320" y="3493008"/>
            <a:ext cx="36576" cy="201168"/>
          </a:xfrm>
          <a:prstGeom prst="rect">
            <a:avLst/>
          </a:prstGeom>
          <a:solidFill>
            <a:srgbClr val="0D6E8A"/>
          </a:solidFill>
          <a:ln/>
        </p:spPr>
      </p:sp>
      <p:sp>
        <p:nvSpPr>
          <p:cNvPr id="53" name="Text 51"/>
          <p:cNvSpPr/>
          <p:nvPr/>
        </p:nvSpPr>
        <p:spPr>
          <a:xfrm>
            <a:off x="4937760" y="349300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Alpha · planted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846320" y="3721608"/>
            <a:ext cx="1874520" cy="201168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55" name="Shape 53"/>
          <p:cNvSpPr/>
          <p:nvPr/>
        </p:nvSpPr>
        <p:spPr>
          <a:xfrm>
            <a:off x="4846320" y="3721608"/>
            <a:ext cx="36576" cy="201168"/>
          </a:xfrm>
          <a:prstGeom prst="rect">
            <a:avLst/>
          </a:prstGeom>
          <a:solidFill>
            <a:srgbClr val="0D6E8A"/>
          </a:solidFill>
          <a:ln/>
        </p:spPr>
      </p:sp>
      <p:sp>
        <p:nvSpPr>
          <p:cNvPr id="56" name="Text 54"/>
          <p:cNvSpPr/>
          <p:nvPr/>
        </p:nvSpPr>
        <p:spPr>
          <a:xfrm>
            <a:off x="4937760" y="372160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Beta · planted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846320" y="3950208"/>
            <a:ext cx="1874520" cy="201168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58" name="Shape 56"/>
          <p:cNvSpPr/>
          <p:nvPr/>
        </p:nvSpPr>
        <p:spPr>
          <a:xfrm>
            <a:off x="4846320" y="3950208"/>
            <a:ext cx="36576" cy="201168"/>
          </a:xfrm>
          <a:prstGeom prst="rect">
            <a:avLst/>
          </a:prstGeom>
          <a:solidFill>
            <a:srgbClr val="0D6E8A"/>
          </a:solidFill>
          <a:ln/>
        </p:spPr>
      </p:sp>
      <p:sp>
        <p:nvSpPr>
          <p:cNvPr id="59" name="Text 57"/>
          <p:cNvSpPr/>
          <p:nvPr/>
        </p:nvSpPr>
        <p:spPr>
          <a:xfrm>
            <a:off x="4937760" y="395020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Tank A · remaining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4983480" y="4663440"/>
            <a:ext cx="1600200" cy="182880"/>
          </a:xfrm>
          <a:prstGeom prst="rect">
            <a:avLst/>
          </a:prstGeom>
          <a:solidFill>
            <a:srgbClr val="0D6E8A"/>
          </a:solidFill>
          <a:ln/>
        </p:spPr>
      </p:sp>
      <p:sp>
        <p:nvSpPr>
          <p:cNvPr id="61" name="Text 59"/>
          <p:cNvSpPr/>
          <p:nvPr/>
        </p:nvSpPr>
        <p:spPr>
          <a:xfrm>
            <a:off x="4983480" y="466344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records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6995160" y="1965960"/>
            <a:ext cx="20574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6995160" y="1965960"/>
            <a:ext cx="20574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4" name="Text 62"/>
          <p:cNvSpPr/>
          <p:nvPr/>
        </p:nvSpPr>
        <p:spPr>
          <a:xfrm>
            <a:off x="7086600" y="205740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Cohort Split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7086600" y="22860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Settled cohort divided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multiple substrates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structures.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7086600" y="2816352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7086600" y="2962656"/>
            <a:ext cx="1874520" cy="20116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8" name="Text 66"/>
          <p:cNvSpPr/>
          <p:nvPr/>
        </p:nvSpPr>
        <p:spPr>
          <a:xfrm>
            <a:off x="7132320" y="296265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tile · 50 recruits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6995160" y="316382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↓</a:t>
            </a:r>
            <a:endParaRPr lang="en-US" sz="1400" dirty="0"/>
          </a:p>
        </p:txBody>
      </p:sp>
      <p:sp>
        <p:nvSpPr>
          <p:cNvPr id="70" name="Text 68"/>
          <p:cNvSpPr/>
          <p:nvPr/>
        </p:nvSpPr>
        <p:spPr>
          <a:xfrm>
            <a:off x="7086600" y="3346704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7086600" y="3493008"/>
            <a:ext cx="1874520" cy="201168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72" name="Shape 70"/>
          <p:cNvSpPr/>
          <p:nvPr/>
        </p:nvSpPr>
        <p:spPr>
          <a:xfrm>
            <a:off x="7086600" y="3493008"/>
            <a:ext cx="36576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3" name="Text 71"/>
          <p:cNvSpPr/>
          <p:nvPr/>
        </p:nvSpPr>
        <p:spPr>
          <a:xfrm>
            <a:off x="7178040" y="349300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Tile-A · 25 recruits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7086600" y="3721608"/>
            <a:ext cx="1874520" cy="201168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75" name="Shape 73"/>
          <p:cNvSpPr/>
          <p:nvPr/>
        </p:nvSpPr>
        <p:spPr>
          <a:xfrm>
            <a:off x="7086600" y="3721608"/>
            <a:ext cx="36576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6" name="Text 74"/>
          <p:cNvSpPr/>
          <p:nvPr/>
        </p:nvSpPr>
        <p:spPr>
          <a:xfrm>
            <a:off x="7178040" y="372160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Tile-B · 25 recruits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7223760" y="4663440"/>
            <a:ext cx="1600200" cy="182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8" name="Text 76"/>
          <p:cNvSpPr/>
          <p:nvPr/>
        </p:nvSpPr>
        <p:spPr>
          <a:xfrm>
            <a:off x="7223760" y="466344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batch records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80" name="Text 78"/>
          <p:cNvSpPr/>
          <p:nvPr/>
        </p:nvSpPr>
        <p:spPr>
          <a:xfrm>
            <a:off x="640080" y="4892040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operations preserve the localId + provenanceId link — the genetic thread is never broken regardless of physical form changes.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PROVENANCE TYPES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Genetic Relationships Form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5544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155448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🌊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Wild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from nature. Becomes broodstock — the foundation.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2834640"/>
            <a:ext cx="1188720" cy="228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8346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broodstock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3154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method + date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148840" y="1280160"/>
            <a:ext cx="15544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148840" y="1280160"/>
            <a:ext cx="155448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2148840" y="14173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🧬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240280" y="1874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Sexual Cohort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240280" y="21488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 from a cross. Links to dam &amp; sire gametes.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331720" y="2834640"/>
            <a:ext cx="1188720" cy="2286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2331720" y="28346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juvenile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240280" y="3154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gamete IDs + cross date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840480" y="1280160"/>
            <a:ext cx="15544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40480" y="1280160"/>
            <a:ext cx="155448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0" y="14173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🎓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3931920" y="1874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Graduated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931920" y="21488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Promoted from a batch to individual tracking.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023360" y="2834640"/>
            <a:ext cx="1188720" cy="2286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6" name="Text 24"/>
          <p:cNvSpPr/>
          <p:nvPr/>
        </p:nvSpPr>
        <p:spPr>
          <a:xfrm>
            <a:off x="4023360" y="28346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931920" y="3154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cohort linkage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532120" y="1280160"/>
            <a:ext cx="15544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532120" y="1280160"/>
            <a:ext cx="155448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5532120" y="14173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🔄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5623560" y="1874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623560" y="21488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from another organization.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715000" y="2834640"/>
            <a:ext cx="1188720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5715000" y="28346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623560" y="3154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organization ID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223760" y="1280160"/>
            <a:ext cx="15544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223760" y="1280160"/>
            <a:ext cx="1554480" cy="457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8" name="Text 36"/>
          <p:cNvSpPr/>
          <p:nvPr/>
        </p:nvSpPr>
        <p:spPr>
          <a:xfrm>
            <a:off x="7223760" y="14173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❓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7315200" y="1874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Unknown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315200" y="21488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not yet documented.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406640" y="2834640"/>
            <a:ext cx="1188720" cy="22860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2" name="Text 40"/>
          <p:cNvSpPr/>
          <p:nvPr/>
        </p:nvSpPr>
        <p:spPr>
          <a:xfrm>
            <a:off x="7406640" y="28346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315200" y="3154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57200" y="3703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Genetic Relationship Types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457200" y="4041648"/>
            <a:ext cx="54864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6" name="Text 44"/>
          <p:cNvSpPr/>
          <p:nvPr/>
        </p:nvSpPr>
        <p:spPr>
          <a:xfrm>
            <a:off x="621792" y="40233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Parent → Offspring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21792" y="4297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damGameteIds +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sireGameteIds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606040" y="4041648"/>
            <a:ext cx="54864" cy="7772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9" name="Text 47"/>
          <p:cNvSpPr/>
          <p:nvPr/>
        </p:nvSpPr>
        <p:spPr>
          <a:xfrm>
            <a:off x="2770632" y="40233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Siblings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2770632" y="4297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Shared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parentGameteIds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754880" y="4041648"/>
            <a:ext cx="54864" cy="7772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2" name="Text 50"/>
          <p:cNvSpPr/>
          <p:nvPr/>
        </p:nvSpPr>
        <p:spPr>
          <a:xfrm>
            <a:off x="4919472" y="40233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Cohort → Individual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919472" y="4297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parentCohortId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903720" y="4041648"/>
            <a:ext cx="54864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5" name="Text 53"/>
          <p:cNvSpPr/>
          <p:nvPr/>
        </p:nvSpPr>
        <p:spPr>
          <a:xfrm>
            <a:off x="7068312" y="40233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Clonal (Asexual)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7068312" y="4297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Same localId +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donor lineage tracked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A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PROVENANCE IN ACTION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Complete Family Tree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926080" cy="777240"/>
          </a:xfrm>
          <a:prstGeom prst="rect">
            <a:avLst/>
          </a:prstGeom>
          <a:solidFill>
            <a:srgbClr val="0F3D2E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54864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1556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WILD · DAM (egg)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2984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Colony "Aurora"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57276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localId: ACER-001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760720" y="1097280"/>
            <a:ext cx="2926080" cy="777240"/>
          </a:xfrm>
          <a:prstGeom prst="rect">
            <a:avLst/>
          </a:prstGeom>
          <a:solidFill>
            <a:srgbClr val="0D2847"/>
          </a:solidFill>
          <a:ln/>
        </p:spPr>
      </p:sp>
      <p:sp>
        <p:nvSpPr>
          <p:cNvPr id="10" name="Shape 8"/>
          <p:cNvSpPr/>
          <p:nvPr/>
        </p:nvSpPr>
        <p:spPr>
          <a:xfrm>
            <a:off x="5760720" y="1097280"/>
            <a:ext cx="54864" cy="7772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0" y="111556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WILD · SIRE (sperm)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0" y="12984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Colony "Titan"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0" y="157276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localId: ACER-007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40480" y="11887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 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920240" y="1874520"/>
            <a:ext cx="0" cy="320040"/>
          </a:xfrm>
          <a:prstGeom prst="line">
            <a:avLst/>
          </a:prstGeom>
          <a:noFill/>
          <a:ln w="19050">
            <a:solidFill>
              <a:srgbClr val="10B981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7223760" y="1874520"/>
            <a:ext cx="0" cy="320040"/>
          </a:xfrm>
          <a:prstGeom prst="line">
            <a:avLst/>
          </a:prstGeom>
          <a:noFill/>
          <a:ln w="19050">
            <a:solidFill>
              <a:srgbClr val="38BDF8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1920240" y="2194560"/>
            <a:ext cx="5303520" cy="0"/>
          </a:xfrm>
          <a:prstGeom prst="line">
            <a:avLst/>
          </a:prstGeom>
          <a:noFill/>
          <a:ln w="19050">
            <a:solidFill>
              <a:srgbClr val="8B5CF6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4572000" y="2194560"/>
            <a:ext cx="0" cy="228600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040" y="2331720"/>
            <a:ext cx="1645920" cy="365760"/>
          </a:xfrm>
          <a:prstGeom prst="ellipse">
            <a:avLst/>
          </a:prstGeom>
          <a:solidFill>
            <a:srgbClr val="2D1B4E"/>
          </a:solidFill>
          <a:ln/>
        </p:spPr>
      </p:sp>
      <p:sp>
        <p:nvSpPr>
          <p:cNvPr id="20" name="Text 18"/>
          <p:cNvSpPr/>
          <p:nvPr/>
        </p:nvSpPr>
        <p:spPr>
          <a:xfrm>
            <a:off x="3749040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Sexual Cross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2697480"/>
            <a:ext cx="0" cy="228600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0" y="2926080"/>
            <a:ext cx="4572000" cy="640080"/>
          </a:xfrm>
          <a:prstGeom prst="rect">
            <a:avLst/>
          </a:prstGeom>
          <a:solidFill>
            <a:srgbClr val="1D1340"/>
          </a:solidFill>
          <a:ln/>
        </p:spPr>
      </p:sp>
      <p:sp>
        <p:nvSpPr>
          <p:cNvPr id="23" name="Shape 21"/>
          <p:cNvSpPr/>
          <p:nvPr/>
        </p:nvSpPr>
        <p:spPr>
          <a:xfrm>
            <a:off x="2286000" y="2926080"/>
            <a:ext cx="457200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4" name="Text 22"/>
          <p:cNvSpPr/>
          <p:nvPr/>
        </p:nvSpPr>
        <p:spPr>
          <a:xfrm>
            <a:off x="2468880" y="29992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SEXUAL COHORT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468880" y="3200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"Aurora x Titan 2024"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0" y="3566160"/>
            <a:ext cx="0" cy="182880"/>
          </a:xfrm>
          <a:prstGeom prst="line">
            <a:avLst/>
          </a:prstGeom>
          <a:noFill/>
          <a:ln w="12700">
            <a:solidFill>
              <a:srgbClr val="8B5CF6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1645920" y="3749040"/>
            <a:ext cx="5852160" cy="0"/>
          </a:xfrm>
          <a:prstGeom prst="line">
            <a:avLst/>
          </a:prstGeom>
          <a:noFill/>
          <a:ln w="12700">
            <a:solidFill>
              <a:srgbClr val="8B5CF6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1645920" y="3749040"/>
            <a:ext cx="0" cy="182880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931920"/>
            <a:ext cx="2468880" cy="548640"/>
          </a:xfrm>
          <a:prstGeom prst="rect">
            <a:avLst/>
          </a:prstGeom>
          <a:solidFill>
            <a:srgbClr val="1D1340"/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" y="3931920"/>
            <a:ext cx="45720" cy="5486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39502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"Spark"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94360" y="418795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juvenile · 3 frags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26280" y="3749040"/>
            <a:ext cx="0" cy="182880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37560" y="3931920"/>
            <a:ext cx="2468880" cy="548640"/>
          </a:xfrm>
          <a:prstGeom prst="rect">
            <a:avLst/>
          </a:prstGeom>
          <a:solidFill>
            <a:srgbClr val="1D1340"/>
          </a:solidFill>
          <a:ln/>
        </p:spPr>
      </p:sp>
      <p:sp>
        <p:nvSpPr>
          <p:cNvPr id="35" name="Shape 33"/>
          <p:cNvSpPr/>
          <p:nvPr/>
        </p:nvSpPr>
        <p:spPr>
          <a:xfrm>
            <a:off x="3337560" y="3931920"/>
            <a:ext cx="45720" cy="5486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6" name="Text 34"/>
          <p:cNvSpPr/>
          <p:nvPr/>
        </p:nvSpPr>
        <p:spPr>
          <a:xfrm>
            <a:off x="3474720" y="39502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"Nova"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474720" y="418795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juvenile · 5 frags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406640" y="3749040"/>
            <a:ext cx="0" cy="182880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17920" y="3931920"/>
            <a:ext cx="2468880" cy="548640"/>
          </a:xfrm>
          <a:prstGeom prst="rect">
            <a:avLst/>
          </a:prstGeom>
          <a:solidFill>
            <a:srgbClr val="0D2847"/>
          </a:solidFill>
          <a:ln/>
        </p:spPr>
      </p:sp>
      <p:sp>
        <p:nvSpPr>
          <p:cNvPr id="40" name="Shape 38"/>
          <p:cNvSpPr/>
          <p:nvPr/>
        </p:nvSpPr>
        <p:spPr>
          <a:xfrm>
            <a:off x="6217920" y="3931920"/>
            <a:ext cx="45720" cy="5486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1" name="Text 39"/>
          <p:cNvSpPr/>
          <p:nvPr/>
        </p:nvSpPr>
        <p:spPr>
          <a:xfrm>
            <a:off x="6355080" y="39502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"Comet"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355080" y="418795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for graduation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452360" y="4480560"/>
            <a:ext cx="0" cy="228600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35240" y="45262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217920" y="4709160"/>
            <a:ext cx="2468880" cy="320040"/>
          </a:xfrm>
          <a:prstGeom prst="rect">
            <a:avLst/>
          </a:prstGeom>
          <a:solidFill>
            <a:srgbClr val="0D3D47"/>
          </a:solidFill>
          <a:ln/>
        </p:spPr>
      </p:sp>
      <p:sp>
        <p:nvSpPr>
          <p:cNvPr id="46" name="Text 44"/>
          <p:cNvSpPr/>
          <p:nvPr/>
        </p:nvSpPr>
        <p:spPr>
          <a:xfrm>
            <a:off x="6309360" y="4709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"Comet" — individually tracked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57200" y="4709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parentGameteIds = full siblings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6E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 NODE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Hierarchical Navigation &amp; Reactive Streams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25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Navigation Hierarchy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73152" cy="320040"/>
          </a:xfrm>
          <a:prstGeom prst="rect">
            <a:avLst/>
          </a:prstGeom>
          <a:solidFill>
            <a:srgbClr val="0D6E8A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7373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6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OrganizationNode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96112" y="19019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· children: sites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234440" y="2148840"/>
            <a:ext cx="73152" cy="320040"/>
          </a:xfrm>
          <a:prstGeom prst="rect">
            <a:avLst/>
          </a:prstGeom>
          <a:solidFill>
            <a:srgbClr val="0EA5A0"/>
          </a:solidFill>
          <a:ln/>
        </p:spPr>
      </p:sp>
      <p:sp>
        <p:nvSpPr>
          <p:cNvPr id="10" name="Text 8"/>
          <p:cNvSpPr/>
          <p:nvPr/>
        </p:nvSpPr>
        <p:spPr>
          <a:xfrm>
            <a:off x="1399032" y="21488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SiteNode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99032" y="231343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Nursery/reef · children: groups + organisms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737360" y="2560320"/>
            <a:ext cx="73152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1901952" y="25603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GroupNode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01952" y="272491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Tank/table · MovableNode · nestable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240280" y="2971800"/>
            <a:ext cx="73152" cy="3200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6" name="Text 14"/>
          <p:cNvSpPr/>
          <p:nvPr/>
        </p:nvSpPr>
        <p:spPr>
          <a:xfrm>
            <a:off x="2404872" y="2971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OrganismNode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04872" y="31363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instance · MovableNode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34290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 State Machine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749040"/>
            <a:ext cx="749808" cy="2743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74904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481328" y="3749040"/>
            <a:ext cx="11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→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600200" y="3749040"/>
            <a:ext cx="749808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1600200" y="374904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350008" y="3749040"/>
            <a:ext cx="11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→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468880" y="3749040"/>
            <a:ext cx="749808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2468880" y="374904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18688" y="3749040"/>
            <a:ext cx="11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→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37560" y="3749040"/>
            <a:ext cx="749808" cy="274320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29" name="Text 27"/>
          <p:cNvSpPr/>
          <p:nvPr/>
        </p:nvSpPr>
        <p:spPr>
          <a:xfrm>
            <a:off x="3337560" y="3749040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0" y="123444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754880" y="1325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4-Stream Bundle (per node)</a:t>
            </a:r>
            <a:endParaRPr lang="en-US" sz="1300" dirty="0"/>
          </a:p>
        </p:txBody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755648"/>
            <a:ext cx="274320" cy="27432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5212080" y="173736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Record Stream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5212080" y="19202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record updates from Firestore</a:t>
            </a:r>
            <a:endParaRPr lang="en-US" sz="900" dirty="0"/>
          </a:p>
        </p:txBody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350008"/>
            <a:ext cx="274320" cy="27432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5212080" y="23317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Children Stream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212080" y="251460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nodes (sites, groups, organisms)</a:t>
            </a:r>
            <a:endParaRPr lang="en-US" sz="900" dirty="0"/>
          </a:p>
        </p:txBody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944368"/>
            <a:ext cx="274320" cy="274320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5212080" y="29260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Events Stream</a:t>
            </a:r>
            <a:endParaRPr lang="en-US" sz="1100" dirty="0"/>
          </a:p>
        </p:txBody>
      </p:sp>
      <p:sp>
        <p:nvSpPr>
          <p:cNvPr id="40" name="Text 35"/>
          <p:cNvSpPr/>
          <p:nvPr/>
        </p:nvSpPr>
        <p:spPr>
          <a:xfrm>
            <a:off x="5212080" y="310896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descendant events by urlPath prefix</a:t>
            </a:r>
            <a:endParaRPr lang="en-US" sz="900" dirty="0"/>
          </a:p>
        </p:txBody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538728"/>
            <a:ext cx="274320" cy="274320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5212080" y="35204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Creator Stream</a:t>
            </a:r>
            <a:endParaRPr lang="en-US" sz="1100" dirty="0"/>
          </a:p>
        </p:txBody>
      </p:sp>
      <p:sp>
        <p:nvSpPr>
          <p:cNvPr id="43" name="Text 37"/>
          <p:cNvSpPr/>
          <p:nvPr/>
        </p:nvSpPr>
        <p:spPr>
          <a:xfrm>
            <a:off x="5212080" y="37033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who created this record</a:t>
            </a:r>
            <a:endParaRPr lang="en-US" sz="900" dirty="0"/>
          </a:p>
        </p:txBody>
      </p:sp>
      <p:sp>
        <p:nvSpPr>
          <p:cNvPr id="44" name="Shape 38"/>
          <p:cNvSpPr/>
          <p:nvPr/>
        </p:nvSpPr>
        <p:spPr>
          <a:xfrm>
            <a:off x="4846320" y="4160520"/>
            <a:ext cx="3566160" cy="32004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45" name="Text 39"/>
          <p:cNvSpPr/>
          <p:nvPr/>
        </p:nvSpPr>
        <p:spPr>
          <a:xfrm>
            <a:off x="4937760" y="41605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CombineLatestStream → LoadedState</a:t>
            </a:r>
            <a:endParaRPr lang="en-US" sz="1000" dirty="0"/>
          </a:p>
        </p:txBody>
      </p:sp>
      <p:sp>
        <p:nvSpPr>
          <p:cNvPr id="46" name="Shape 40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47" name="Text 41"/>
          <p:cNvSpPr/>
          <p:nvPr/>
        </p:nvSpPr>
        <p:spPr>
          <a:xfrm>
            <a:off x="640080" y="47091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Uri-based navigation internally  ·  urlPath for deep links &amp; queries  ·  Lazy loading: only immediate descendants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A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SITES &amp; STRUCTURE HIERARCHY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Organisms Live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contain a 3-level structure hierarchy. Pro organizations can customize structure types per site.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5544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3-Level Structure Hierarchy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73152" cy="502920"/>
          </a:xfrm>
          <a:prstGeom prst="rect">
            <a:avLst/>
          </a:prstGeom>
          <a:solidFill>
            <a:srgbClr val="0D6E8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9202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6E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10312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Nursery, reef, lab, gene bank, spawning facility...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" y="2258568"/>
            <a:ext cx="3200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"Tavernier Nursery"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960120" y="2240280"/>
            <a:ext cx="0" cy="41148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120" y="2651760"/>
            <a:ext cx="13716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" y="2606040"/>
            <a:ext cx="73152" cy="502920"/>
          </a:xfrm>
          <a:prstGeom prst="rect">
            <a:avLst/>
          </a:prstGeom>
          <a:solidFill>
            <a:srgbClr val="0EA5A0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26060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Superstructure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34440" y="278892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or life-support system grouping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234440" y="2944368"/>
            <a:ext cx="3200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"Zone A — Broodstock"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417320" y="2926080"/>
            <a:ext cx="0" cy="41148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17320" y="3337560"/>
            <a:ext cx="13716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54480" y="3291840"/>
            <a:ext cx="73152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1691640" y="32918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91640" y="347472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Tank, tree, table, raceway, dome, cage...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691640" y="3630168"/>
            <a:ext cx="3200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"Tank 1" · "Tree 5"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874520" y="3611880"/>
            <a:ext cx="0" cy="41148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74520" y="4023360"/>
            <a:ext cx="13716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11680" y="3977640"/>
            <a:ext cx="73152" cy="5029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6" name="Text 24"/>
          <p:cNvSpPr/>
          <p:nvPr/>
        </p:nvSpPr>
        <p:spPr>
          <a:xfrm>
            <a:off x="2148840" y="39776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Substructure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148840" y="416052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Tray, branch, grid cell, tag, bag, rack...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148840" y="4315968"/>
            <a:ext cx="3200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"Tray 1-A" · "Branch 3"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40080" y="4572000"/>
            <a:ext cx="3749040" cy="22860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5720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Organisms attach to structures and substructures only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46320" y="146304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029200" y="1554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Site Types (15+)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029200" y="1874520"/>
            <a:ext cx="36576" cy="2560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4" name="Text 32"/>
          <p:cNvSpPr/>
          <p:nvPr/>
        </p:nvSpPr>
        <p:spPr>
          <a:xfrm>
            <a:off x="5138928" y="1883664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Nursery (ex situ)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138928" y="2002536"/>
            <a:ext cx="2194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Land-based tanks, raceways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8046720" y="1911096"/>
            <a:ext cx="502920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8046720" y="18928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5029200" y="2176272"/>
            <a:ext cx="36576" cy="256032"/>
          </a:xfrm>
          <a:prstGeom prst="rect">
            <a:avLst/>
          </a:prstGeom>
          <a:solidFill>
            <a:srgbClr val="0EA5A0"/>
          </a:solidFill>
          <a:ln/>
        </p:spPr>
      </p:sp>
      <p:sp>
        <p:nvSpPr>
          <p:cNvPr id="39" name="Text 37"/>
          <p:cNvSpPr/>
          <p:nvPr/>
        </p:nvSpPr>
        <p:spPr>
          <a:xfrm>
            <a:off x="5138928" y="2185416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Nursery (in situ)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138928" y="2304288"/>
            <a:ext cx="2194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 trees, tables, cradles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8046720" y="2212848"/>
            <a:ext cx="502920" cy="164592"/>
          </a:xfrm>
          <a:prstGeom prst="rect">
            <a:avLst/>
          </a:prstGeom>
          <a:solidFill>
            <a:srgbClr val="0D6E8A"/>
          </a:solidFill>
          <a:ln/>
        </p:spPr>
      </p:sp>
      <p:sp>
        <p:nvSpPr>
          <p:cNvPr id="42" name="Text 40"/>
          <p:cNvSpPr/>
          <p:nvPr/>
        </p:nvSpPr>
        <p:spPr>
          <a:xfrm>
            <a:off x="8046720" y="219456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5029200" y="2478024"/>
            <a:ext cx="36576" cy="256032"/>
          </a:xfrm>
          <a:prstGeom prst="rect">
            <a:avLst/>
          </a:prstGeom>
          <a:solidFill>
            <a:srgbClr val="0D6E8A"/>
          </a:solidFill>
          <a:ln/>
        </p:spPr>
      </p:sp>
      <p:sp>
        <p:nvSpPr>
          <p:cNvPr id="44" name="Text 42"/>
          <p:cNvSpPr/>
          <p:nvPr/>
        </p:nvSpPr>
        <p:spPr>
          <a:xfrm>
            <a:off x="5138928" y="2487168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Outplanting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138928" y="2606040"/>
            <a:ext cx="2194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reef restoration areas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8046720" y="2514600"/>
            <a:ext cx="502920" cy="164592"/>
          </a:xfrm>
          <a:prstGeom prst="rect">
            <a:avLst/>
          </a:prstGeom>
          <a:solidFill>
            <a:srgbClr val="0D6E8A"/>
          </a:solidFill>
          <a:ln/>
        </p:spPr>
      </p:sp>
      <p:sp>
        <p:nvSpPr>
          <p:cNvPr id="47" name="Text 45"/>
          <p:cNvSpPr/>
          <p:nvPr/>
        </p:nvSpPr>
        <p:spPr>
          <a:xfrm>
            <a:off x="8046720" y="249631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5029200" y="2779776"/>
            <a:ext cx="36576" cy="25603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9" name="Text 47"/>
          <p:cNvSpPr/>
          <p:nvPr/>
        </p:nvSpPr>
        <p:spPr>
          <a:xfrm>
            <a:off x="5138928" y="2788920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 Bank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138928" y="2907792"/>
            <a:ext cx="2194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 preservation facility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8046720" y="2816352"/>
            <a:ext cx="502920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2" name="Text 50"/>
          <p:cNvSpPr/>
          <p:nvPr/>
        </p:nvSpPr>
        <p:spPr>
          <a:xfrm>
            <a:off x="8046720" y="279806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5029200" y="3081528"/>
            <a:ext cx="36576" cy="25603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4" name="Text 52"/>
          <p:cNvSpPr/>
          <p:nvPr/>
        </p:nvSpPr>
        <p:spPr>
          <a:xfrm>
            <a:off x="5138928" y="3090672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Monitoring Site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138928" y="3209544"/>
            <a:ext cx="2194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 reef survey locations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8046720" y="3118104"/>
            <a:ext cx="502920" cy="164592"/>
          </a:xfrm>
          <a:prstGeom prst="rect">
            <a:avLst/>
          </a:prstGeom>
          <a:solidFill>
            <a:srgbClr val="0D6E8A"/>
          </a:solidFill>
          <a:ln/>
        </p:spPr>
      </p:sp>
      <p:sp>
        <p:nvSpPr>
          <p:cNvPr id="57" name="Text 55"/>
          <p:cNvSpPr/>
          <p:nvPr/>
        </p:nvSpPr>
        <p:spPr>
          <a:xfrm>
            <a:off x="8046720" y="3099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5029200" y="3383280"/>
            <a:ext cx="36576" cy="256032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59" name="Text 57"/>
          <p:cNvSpPr/>
          <p:nvPr/>
        </p:nvSpPr>
        <p:spPr>
          <a:xfrm>
            <a:off x="5138928" y="3392424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Collection Site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138928" y="3511296"/>
            <a:ext cx="2194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 collection origin tracking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8046720" y="3419856"/>
            <a:ext cx="502920" cy="164592"/>
          </a:xfrm>
          <a:prstGeom prst="rect">
            <a:avLst/>
          </a:prstGeom>
          <a:solidFill>
            <a:srgbClr val="0D6E8A"/>
          </a:solidFill>
          <a:ln/>
        </p:spPr>
      </p:sp>
      <p:sp>
        <p:nvSpPr>
          <p:cNvPr id="62" name="Text 60"/>
          <p:cNvSpPr/>
          <p:nvPr/>
        </p:nvSpPr>
        <p:spPr>
          <a:xfrm>
            <a:off x="8046720" y="340156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5029200" y="3685032"/>
            <a:ext cx="36576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4" name="Text 62"/>
          <p:cNvSpPr/>
          <p:nvPr/>
        </p:nvSpPr>
        <p:spPr>
          <a:xfrm>
            <a:off x="5138928" y="3694176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Lab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138928" y="3813048"/>
            <a:ext cx="2194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research environment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8046720" y="3721608"/>
            <a:ext cx="502920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7" name="Text 65"/>
          <p:cNvSpPr/>
          <p:nvPr/>
        </p:nvSpPr>
        <p:spPr>
          <a:xfrm>
            <a:off x="8046720" y="370332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5029200" y="3986784"/>
            <a:ext cx="36576" cy="25603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9" name="Text 67"/>
          <p:cNvSpPr/>
          <p:nvPr/>
        </p:nvSpPr>
        <p:spPr>
          <a:xfrm>
            <a:off x="5138928" y="3995928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Spawning Facility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5138928" y="4114800"/>
            <a:ext cx="2194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Ex-situ spawning &amp; settlement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8046720" y="4023360"/>
            <a:ext cx="502920" cy="1645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2" name="Text 70"/>
          <p:cNvSpPr/>
          <p:nvPr/>
        </p:nvSpPr>
        <p:spPr>
          <a:xfrm>
            <a:off x="8046720" y="40050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74" name="Text 72"/>
          <p:cNvSpPr/>
          <p:nvPr/>
        </p:nvSpPr>
        <p:spPr>
          <a:xfrm>
            <a:off x="640080" y="4892040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types are customizable per site — nursery trees, tanks, trays, and coral-specific structures are all supported.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6E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RECORD METADATA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Lives on an Organism Record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2651760" cy="4572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7160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3716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Identity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17373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recordName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localId · provenanceId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speciesId · organismKind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91840" y="123444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91840" y="1234440"/>
            <a:ext cx="2651760" cy="45720"/>
          </a:xfrm>
          <a:prstGeom prst="rect">
            <a:avLst/>
          </a:prstGeom>
          <a:solidFill>
            <a:srgbClr val="0EA5A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371600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49040" y="13716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Location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429000" y="17373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siteId · groupId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zoneId · subplotId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tagId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26480" y="123444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26480" y="1234440"/>
            <a:ext cx="2651760" cy="4572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71600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83680" y="13716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Lifecycle State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263640" y="17373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lifeStage (LifeStageSpec)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physicalForm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sizeSpec · measurement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57200" y="278892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57200" y="2788920"/>
            <a:ext cx="2651760" cy="45720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926080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" y="29260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Provenance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94360" y="32918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provenanceType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provenanceAttributes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(dam/sire/cohort refs)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291840" y="278892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291840" y="2788920"/>
            <a:ext cx="2651760" cy="45720"/>
          </a:xfrm>
          <a:prstGeom prst="rect">
            <a:avLst/>
          </a:prstGeom>
          <a:solidFill>
            <a:srgbClr val="0D6E8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2926080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749040" y="29260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Ownership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429000" y="32918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ownerOrganizationId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managingOrganizationId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custodyHistory[]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126480" y="278892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126480" y="2788920"/>
            <a:ext cx="2651760" cy="4572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2926080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583680" y="29260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References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263640" y="32918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foreignKeys map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aliases list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completeness score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35" name="Text 27"/>
          <p:cNvSpPr/>
          <p:nvPr/>
        </p:nvSpPr>
        <p:spPr>
          <a:xfrm>
            <a:off x="640080" y="455371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 Score (0–100%): Tracks populated fields per record, surfacing data gaps in the UI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EVENT-DRIVEN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Events Modify Records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18288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280160"/>
            <a:ext cx="182880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716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138988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Action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6916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life stage,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location,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quantity,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size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94560" y="1737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A0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560320" y="1280160"/>
            <a:ext cx="18288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0" y="1280160"/>
            <a:ext cx="182880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2651760" y="13716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880360" y="138988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 Changes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51760" y="16916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ChangeService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before/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field diffs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80560" y="1737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A0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846320" y="1280160"/>
            <a:ext cx="18288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1280160"/>
            <a:ext cx="182880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13716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66360" y="138988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Emit Event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16916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event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Firestore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snapshotData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766560" y="1737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A5A0"/>
                </a:solidFill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132320" y="1280160"/>
            <a:ext cx="18288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132320" y="1280160"/>
            <a:ext cx="18288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7223760" y="13716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452360" y="1389888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Update Record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223760" y="16916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updated,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appended,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emits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2971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 Categories (40+ types)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3337560"/>
            <a:ext cx="19659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3337560"/>
            <a:ext cx="196596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" y="345643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Lifecycle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66928" y="37033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LifeStageTransition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PhysicalFormChange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SizeChange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QuantityChange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606040" y="3337560"/>
            <a:ext cx="19659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606040" y="3337560"/>
            <a:ext cx="196596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4" name="Text 32"/>
          <p:cNvSpPr/>
          <p:nvPr/>
        </p:nvSpPr>
        <p:spPr>
          <a:xfrm>
            <a:off x="2715768" y="345643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Inventory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715768" y="37033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· Move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Mortality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Collection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 · Merge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54880" y="3337560"/>
            <a:ext cx="19659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3337560"/>
            <a:ext cx="196596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4864608" y="345643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864608" y="37033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Disease · Bleaching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Biofouling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Maintenance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Monitoring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903720" y="3337560"/>
            <a:ext cx="19659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903720" y="3337560"/>
            <a:ext cx="196596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2" name="Text 40"/>
          <p:cNvSpPr/>
          <p:nvPr/>
        </p:nvSpPr>
        <p:spPr>
          <a:xfrm>
            <a:off x="7013448" y="345643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Specialized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013448" y="37033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Husbandry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Reproductive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Environmental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Transfer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45" name="Text 43"/>
          <p:cNvSpPr/>
          <p:nvPr/>
        </p:nvSpPr>
        <p:spPr>
          <a:xfrm>
            <a:off x="640080" y="482803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event stores snapshotData = complete record state at that moment → enabling "time travel" to any point in history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A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INTER-ORG TRANSFER SERVICE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Cross-Organization Transfers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Transfer Status State Machine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188720" cy="36576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08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Draft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20240" y="1508760"/>
            <a:ext cx="118872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1920240" y="1508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Pending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508760"/>
            <a:ext cx="1188720" cy="3657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508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Shipped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508760"/>
            <a:ext cx="118872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508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Received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645920" y="15087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108960" y="15087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0" y="15087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0" y="1417320"/>
            <a:ext cx="1005840" cy="256032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14173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589520" y="1417320"/>
            <a:ext cx="1005840" cy="25603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9" name="Text 17"/>
          <p:cNvSpPr/>
          <p:nvPr/>
        </p:nvSpPr>
        <p:spPr>
          <a:xfrm>
            <a:off x="7589520" y="14173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0" y="170992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(terminal states — any non-terminal can reach these)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Ownership Models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2423160"/>
            <a:ext cx="26974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2423160"/>
            <a:ext cx="54864" cy="118872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514600"/>
            <a:ext cx="274320" cy="27432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005840" y="249631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Transfer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40080" y="2834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 becomes owner + manager.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handoff of all rights.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337560" y="2423160"/>
            <a:ext cx="26974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3337560" y="2423160"/>
            <a:ext cx="54864" cy="1188720"/>
          </a:xfrm>
          <a:prstGeom prst="rect">
            <a:avLst/>
          </a:prstGeom>
          <a:solidFill>
            <a:srgbClr val="0D6E8A"/>
          </a:solidFill>
          <a:ln/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2514600"/>
            <a:ext cx="274320" cy="27432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3886200" y="249631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Retained Ownership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3520440" y="2834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keeps ownership.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 manages day-to-day.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6217920" y="2423160"/>
            <a:ext cx="26974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6217920" y="2423160"/>
            <a:ext cx="54864" cy="118872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514600"/>
            <a:ext cx="274320" cy="27432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6766560" y="249631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Third-Party Transfer</a:t>
            </a:r>
            <a:endParaRPr lang="en-US" sz="1200" dirty="0"/>
          </a:p>
        </p:txBody>
      </p:sp>
      <p:sp>
        <p:nvSpPr>
          <p:cNvPr id="36" name="Text 31"/>
          <p:cNvSpPr/>
          <p:nvPr/>
        </p:nvSpPr>
        <p:spPr>
          <a:xfrm>
            <a:off x="6400800" y="2834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Auto-detected when organism's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differs from sender.</a:t>
            </a:r>
            <a:endParaRPr lang="en-US" sz="1000" dirty="0"/>
          </a:p>
        </p:txBody>
      </p:sp>
      <p:sp>
        <p:nvSpPr>
          <p:cNvPr id="37" name="Text 32"/>
          <p:cNvSpPr/>
          <p:nvPr/>
        </p:nvSpPr>
        <p:spPr>
          <a:xfrm>
            <a:off x="45720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Transfer Manifest</a:t>
            </a:r>
            <a:endParaRPr lang="en-US" sz="1300" dirty="0"/>
          </a:p>
        </p:txBody>
      </p:sp>
      <p:sp>
        <p:nvSpPr>
          <p:cNvPr id="38" name="Text 33"/>
          <p:cNvSpPr/>
          <p:nvPr/>
        </p:nvSpPr>
        <p:spPr>
          <a:xfrm>
            <a:off x="457200" y="402336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Point-in-time snapshot for verification &amp; cross-org sharing</a:t>
            </a:r>
            <a:endParaRPr lang="en-US" sz="1000" dirty="0"/>
          </a:p>
        </p:txBody>
      </p:sp>
      <p:sp>
        <p:nvSpPr>
          <p:cNvPr id="39" name="Shape 34"/>
          <p:cNvSpPr/>
          <p:nvPr/>
        </p:nvSpPr>
        <p:spPr>
          <a:xfrm>
            <a:off x="457200" y="4297680"/>
            <a:ext cx="54864" cy="256032"/>
          </a:xfrm>
          <a:prstGeom prst="rect">
            <a:avLst/>
          </a:prstGeom>
          <a:solidFill>
            <a:srgbClr val="0D6E8A"/>
          </a:solidFill>
          <a:ln/>
        </p:spPr>
      </p:sp>
      <p:sp>
        <p:nvSpPr>
          <p:cNvPr id="40" name="Text 35"/>
          <p:cNvSpPr/>
          <p:nvPr/>
        </p:nvSpPr>
        <p:spPr>
          <a:xfrm>
            <a:off x="594360" y="42976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From/To Org Snapshots</a:t>
            </a:r>
            <a:endParaRPr lang="en-US" sz="1000" dirty="0"/>
          </a:p>
        </p:txBody>
      </p:sp>
      <p:sp>
        <p:nvSpPr>
          <p:cNvPr id="41" name="Shape 36"/>
          <p:cNvSpPr/>
          <p:nvPr/>
        </p:nvSpPr>
        <p:spPr>
          <a:xfrm>
            <a:off x="3337560" y="4297680"/>
            <a:ext cx="54864" cy="25603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2" name="Text 37"/>
          <p:cNvSpPr/>
          <p:nvPr/>
        </p:nvSpPr>
        <p:spPr>
          <a:xfrm>
            <a:off x="3474720" y="42976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 Snapshot</a:t>
            </a:r>
            <a:endParaRPr lang="en-US" sz="1000" dirty="0"/>
          </a:p>
        </p:txBody>
      </p:sp>
      <p:sp>
        <p:nvSpPr>
          <p:cNvPr id="43" name="Shape 38"/>
          <p:cNvSpPr/>
          <p:nvPr/>
        </p:nvSpPr>
        <p:spPr>
          <a:xfrm>
            <a:off x="6217920" y="4297680"/>
            <a:ext cx="54864" cy="256032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44" name="Text 39"/>
          <p:cNvSpPr/>
          <p:nvPr/>
        </p:nvSpPr>
        <p:spPr>
          <a:xfrm>
            <a:off x="6355080" y="42976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SHA256 Checksum</a:t>
            </a:r>
            <a:endParaRPr lang="en-US" sz="1000" dirty="0"/>
          </a:p>
        </p:txBody>
      </p:sp>
      <p:sp>
        <p:nvSpPr>
          <p:cNvPr id="45" name="Shape 40"/>
          <p:cNvSpPr/>
          <p:nvPr/>
        </p:nvSpPr>
        <p:spPr>
          <a:xfrm>
            <a:off x="457200" y="4663440"/>
            <a:ext cx="54864" cy="25603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6" name="Text 41"/>
          <p:cNvSpPr/>
          <p:nvPr/>
        </p:nvSpPr>
        <p:spPr>
          <a:xfrm>
            <a:off x="594360" y="46634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Payload</a:t>
            </a:r>
            <a:endParaRPr lang="en-US" sz="1000" dirty="0"/>
          </a:p>
        </p:txBody>
      </p:sp>
      <p:sp>
        <p:nvSpPr>
          <p:cNvPr id="47" name="Shape 42"/>
          <p:cNvSpPr/>
          <p:nvPr/>
        </p:nvSpPr>
        <p:spPr>
          <a:xfrm>
            <a:off x="3337560" y="4663440"/>
            <a:ext cx="54864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8" name="Text 43"/>
          <p:cNvSpPr/>
          <p:nvPr/>
        </p:nvSpPr>
        <p:spPr>
          <a:xfrm>
            <a:off x="3474720" y="46634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History</a:t>
            </a:r>
            <a:endParaRPr lang="en-US" sz="1000" dirty="0"/>
          </a:p>
        </p:txBody>
      </p:sp>
      <p:sp>
        <p:nvSpPr>
          <p:cNvPr id="49" name="Shape 44"/>
          <p:cNvSpPr/>
          <p:nvPr/>
        </p:nvSpPr>
        <p:spPr>
          <a:xfrm>
            <a:off x="6217920" y="4663440"/>
            <a:ext cx="54864" cy="2560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0" name="Text 45"/>
          <p:cNvSpPr/>
          <p:nvPr/>
        </p:nvSpPr>
        <p:spPr>
          <a:xfrm>
            <a:off x="6355080" y="46634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Custody Chain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A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CHAIN OF CUSTODY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Tracking Ownership Across Organizations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280160"/>
            <a:ext cx="182880" cy="1828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508760"/>
            <a:ext cx="0" cy="777240"/>
          </a:xfrm>
          <a:prstGeom prst="line">
            <a:avLst/>
          </a:prstGeom>
          <a:noFill/>
          <a:ln w="25400">
            <a:solidFill>
              <a:srgbClr val="0F28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143000"/>
            <a:ext cx="7589520" cy="822960"/>
          </a:xfrm>
          <a:prstGeom prst="rect">
            <a:avLst/>
          </a:prstGeom>
          <a:solidFill>
            <a:srgbClr val="0F2847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1143000"/>
            <a:ext cx="45720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116128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2023-06 → 2024-03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139903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91640" y="139903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Reef Lab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88720" y="158191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Manager: 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783080" y="158191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Reef Lab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0" y="1234440"/>
            <a:ext cx="1463040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0" y="12344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creation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303520" y="12344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 collection by Reef Lab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2286000"/>
            <a:ext cx="182880" cy="182880"/>
          </a:xfrm>
          <a:prstGeom prst="ellipse">
            <a:avLst/>
          </a:prstGeom>
          <a:solidFill>
            <a:srgbClr val="0D6E8A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2514600"/>
            <a:ext cx="0" cy="777240"/>
          </a:xfrm>
          <a:prstGeom prst="line">
            <a:avLst/>
          </a:prstGeom>
          <a:noFill/>
          <a:ln w="25400">
            <a:solidFill>
              <a:srgbClr val="0F284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5840" y="2148840"/>
            <a:ext cx="7589520" cy="822960"/>
          </a:xfrm>
          <a:prstGeom prst="rect">
            <a:avLst/>
          </a:prstGeom>
          <a:solidFill>
            <a:srgbClr val="0F2847"/>
          </a:solidFill>
          <a:ln/>
        </p:spPr>
      </p:sp>
      <p:sp>
        <p:nvSpPr>
          <p:cNvPr id="19" name="Shape 17"/>
          <p:cNvSpPr/>
          <p:nvPr/>
        </p:nvSpPr>
        <p:spPr>
          <a:xfrm>
            <a:off x="1005840" y="2148840"/>
            <a:ext cx="45720" cy="822960"/>
          </a:xfrm>
          <a:prstGeom prst="rect">
            <a:avLst/>
          </a:prstGeom>
          <a:solidFill>
            <a:srgbClr val="0D6E8A"/>
          </a:solidFill>
          <a:ln/>
        </p:spPr>
      </p:sp>
      <p:sp>
        <p:nvSpPr>
          <p:cNvPr id="20" name="Text 18"/>
          <p:cNvSpPr/>
          <p:nvPr/>
        </p:nvSpPr>
        <p:spPr>
          <a:xfrm>
            <a:off x="1188720" y="216712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6E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2024-03 → 2025-01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88720" y="240487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691640" y="240487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Reef Lab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88720" y="258775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Manager: 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783080" y="258775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 Nursery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0" y="2240280"/>
            <a:ext cx="1463040" cy="201168"/>
          </a:xfrm>
          <a:prstGeom prst="rect">
            <a:avLst/>
          </a:prstGeom>
          <a:solidFill>
            <a:srgbClr val="0D6E8A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0" y="22402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retainedOwnership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303520" y="22402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Reef Lab retains ownership,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 Nursery manages daily care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94360" y="3291840"/>
            <a:ext cx="182880" cy="18288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9" name="Shape 27"/>
          <p:cNvSpPr/>
          <p:nvPr/>
        </p:nvSpPr>
        <p:spPr>
          <a:xfrm>
            <a:off x="1005840" y="3154680"/>
            <a:ext cx="7589520" cy="822960"/>
          </a:xfrm>
          <a:prstGeom prst="rect">
            <a:avLst/>
          </a:prstGeom>
          <a:solidFill>
            <a:srgbClr val="0F2847"/>
          </a:solidFill>
          <a:ln/>
        </p:spPr>
      </p:sp>
      <p:sp>
        <p:nvSpPr>
          <p:cNvPr id="30" name="Shape 28"/>
          <p:cNvSpPr/>
          <p:nvPr/>
        </p:nvSpPr>
        <p:spPr>
          <a:xfrm>
            <a:off x="1005840" y="3154680"/>
            <a:ext cx="45720" cy="8229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1" name="Text 29"/>
          <p:cNvSpPr/>
          <p:nvPr/>
        </p:nvSpPr>
        <p:spPr>
          <a:xfrm>
            <a:off x="1188720" y="31729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2025-01 → present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88720" y="341071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691640" y="341071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 Nursery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88720" y="359359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Manager: 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783080" y="359359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 Nursery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0" y="3246120"/>
            <a:ext cx="1463040" cy="20116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0" y="32461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fullTransfer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303520" y="32461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ownership transferred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Ocean Nursery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CustodyHistoryEntry Fields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57200" y="44805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ownerOrgId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103120" y="44805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owner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337560" y="44805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managingOrgId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983480" y="44805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Day-to-day manager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17920" y="44805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startedAt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863840" y="44805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start date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57200" y="48006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transferId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2103120" y="48006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Triggering transfer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337560" y="48006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transferType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983480" y="48006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model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217920" y="48006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863840" y="48006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text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PROVENANCE ID CROSSWALK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Genotype, Many Names, One PID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organization uses its own local naming convention — the crosswalk service maps them all to a single Provenance ID.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749040" y="2240280"/>
            <a:ext cx="1645920" cy="7315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3749040" y="22402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PID-APAL-0001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20116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554480"/>
            <a:ext cx="45720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600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Coral Restoration</a:t>
            </a:r>
            <a:endParaRPr lang="en-US" sz="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" y="19659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localId: AP-5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51760" y="1943100"/>
            <a:ext cx="1097280" cy="662940"/>
          </a:xfrm>
          <a:prstGeom prst="line">
            <a:avLst/>
          </a:prstGeom>
          <a:noFill/>
          <a:ln w="19050">
            <a:solidFill>
              <a:srgbClr val="10B981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640080" y="3291840"/>
            <a:ext cx="20116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291840"/>
            <a:ext cx="45720" cy="7772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3375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Reef Renewal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" y="37033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localId: APAL-025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651760" y="3680460"/>
            <a:ext cx="1097280" cy="-1074420"/>
          </a:xfrm>
          <a:prstGeom prst="line">
            <a:avLst/>
          </a:prstGeom>
          <a:noFill/>
          <a:ln w="19050">
            <a:solidFill>
              <a:srgbClr val="38BDF8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7040880" y="1554480"/>
            <a:ext cx="20116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040880" y="1554480"/>
            <a:ext cx="45720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7178040" y="1600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 Marine Lab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178040" y="19659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localId: HG1824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040880" y="1943100"/>
            <a:ext cx="-1645920" cy="66294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7040880" y="3291840"/>
            <a:ext cx="201168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040880" y="3291840"/>
            <a:ext cx="45720" cy="777240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24" name="Text 22"/>
          <p:cNvSpPr/>
          <p:nvPr/>
        </p:nvSpPr>
        <p:spPr>
          <a:xfrm>
            <a:off x="7178040" y="33375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FWC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178040" y="37033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0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localId: AP001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040880" y="3680460"/>
            <a:ext cx="-1645920" cy="-1074420"/>
          </a:xfrm>
          <a:prstGeom prst="line">
            <a:avLst/>
          </a:prstGeom>
          <a:noFill/>
          <a:ln w="19050">
            <a:solidFill>
              <a:srgbClr val="F97066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2560320" y="1965960"/>
            <a:ext cx="4023360" cy="32004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28" name="Text 26"/>
          <p:cNvSpPr/>
          <p:nvPr/>
        </p:nvSpPr>
        <p:spPr>
          <a:xfrm>
            <a:off x="2560320" y="1965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aliases resolve to the same biological genotype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251960"/>
            <a:ext cx="8229600" cy="8229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4251960"/>
            <a:ext cx="822960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4343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LocalId Rename — PID Preserved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" y="4645152"/>
            <a:ext cx="2377440" cy="32004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46451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CRF renames AP-5 → APAL-CRF-5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063240" y="464515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A5A0"/>
                </a:solidFill>
              </a:rPr>
              <a:t>→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3383280" y="4645152"/>
            <a:ext cx="2377440" cy="32004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6" name="Text 34"/>
          <p:cNvSpPr/>
          <p:nvPr/>
        </p:nvSpPr>
        <p:spPr>
          <a:xfrm>
            <a:off x="3474720" y="46451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alias_index updated atomically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806440" y="464515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A5A0"/>
                </a:solidFill>
              </a:rPr>
              <a:t>→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6126480" y="4645152"/>
            <a:ext cx="2377440" cy="32004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39" name="Text 37"/>
          <p:cNvSpPr/>
          <p:nvPr/>
        </p:nvSpPr>
        <p:spPr>
          <a:xfrm>
            <a:off x="6217920" y="46451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PID-APAL-0001 unchanged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 Rich Inventory Model Enables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5 axes per record — not just species and location — unlocks powerful analytical capabilities across the restoration pipeline.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060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54480"/>
            <a:ext cx="2606040" cy="54864"/>
          </a:xfrm>
          <a:prstGeom prst="rect">
            <a:avLst/>
          </a:prstGeom>
          <a:solidFill>
            <a:srgbClr val="0EA5A0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737360"/>
            <a:ext cx="347472" cy="347472"/>
          </a:xfrm>
          <a:prstGeom prst="ellipse">
            <a:avLst/>
          </a:prstGeom>
          <a:solidFill>
            <a:srgbClr val="0EA5A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801368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71907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Growth Rate Tracking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4360" y="21488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bands + life stage transitions over time reveal per-genet growth rates. Compare performance across nursery conditions, sites, and seasons.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64408" y="1554480"/>
            <a:ext cx="26060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64408" y="1554480"/>
            <a:ext cx="260604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3" name="Shape 10"/>
          <p:cNvSpPr/>
          <p:nvPr/>
        </p:nvSpPr>
        <p:spPr>
          <a:xfrm>
            <a:off x="3401568" y="1737360"/>
            <a:ext cx="347472" cy="347472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5576" y="1801368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858768" y="171907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Maturation Rate Analysis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401568" y="21488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stage timestamps (recruit → juvenile → adult) let you measure maturation timelines and identify fast-growing genets.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071616" y="1554480"/>
            <a:ext cx="26060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071616" y="1554480"/>
            <a:ext cx="260604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Shape 15"/>
          <p:cNvSpPr/>
          <p:nvPr/>
        </p:nvSpPr>
        <p:spPr>
          <a:xfrm>
            <a:off x="6208776" y="1737360"/>
            <a:ext cx="347472" cy="347472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1801368"/>
            <a:ext cx="219456" cy="2194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665976" y="171907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Genetic Diversity at Outplanting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6208776" y="21488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every record carries a localId linked to a genet, you can measure how many unique genets reached each reef site — critical for resilience.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457200" y="3246120"/>
            <a:ext cx="26060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57200" y="3246120"/>
            <a:ext cx="26060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Shape 20"/>
          <p:cNvSpPr/>
          <p:nvPr/>
        </p:nvSpPr>
        <p:spPr>
          <a:xfrm>
            <a:off x="594360" y="3429000"/>
            <a:ext cx="347472" cy="347472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493008"/>
            <a:ext cx="219456" cy="21945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51560" y="341071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Volume &amp; Tissue Area Deployed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594360" y="38404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form + size band data lets you calculate total tissue area and volume outplanted per site, genet, or species.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3264408" y="3246120"/>
            <a:ext cx="26060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264408" y="3246120"/>
            <a:ext cx="2606040" cy="54864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31" name="Shape 25"/>
          <p:cNvSpPr/>
          <p:nvPr/>
        </p:nvSpPr>
        <p:spPr>
          <a:xfrm>
            <a:off x="3401568" y="3429000"/>
            <a:ext cx="347472" cy="347472"/>
          </a:xfrm>
          <a:prstGeom prst="ellipse">
            <a:avLst/>
          </a:prstGeom>
          <a:solidFill>
            <a:srgbClr val="F97066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5576" y="3493008"/>
            <a:ext cx="219456" cy="21945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858768" y="341071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0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Provenance-Aware Reporting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3401568" y="38404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provenance types mean you can report on wild-collected vs. sexually propagated vs. fragmented stock separately.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6071616" y="3246120"/>
            <a:ext cx="26060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6071616" y="3246120"/>
            <a:ext cx="26060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7" name="Shape 30"/>
          <p:cNvSpPr/>
          <p:nvPr/>
        </p:nvSpPr>
        <p:spPr>
          <a:xfrm>
            <a:off x="6208776" y="3429000"/>
            <a:ext cx="347472" cy="347472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2784" y="3493008"/>
            <a:ext cx="219456" cy="219456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665976" y="341071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Cross-Org Comparisons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6208776" y="38404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axes + the PID crosswalk enable apples-to-apples comparisons of restoration outcomes across organizations.</a:t>
            </a:r>
            <a:endParaRPr lang="en-US" sz="900" dirty="0"/>
          </a:p>
        </p:txBody>
      </p:sp>
      <p:sp>
        <p:nvSpPr>
          <p:cNvPr id="41" name="Shape 33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42" name="Text 34"/>
          <p:cNvSpPr/>
          <p:nvPr/>
        </p:nvSpPr>
        <p:spPr>
          <a:xfrm>
            <a:off x="640080" y="4681728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these axes, you're limited to counting organisms. With them, you can measure restoration effectiveness.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6E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DATA TO IMPACT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Field Work to Funder Reports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data powering daily operations also produces the reports funders and regulators need — no separate data entry required.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06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54480"/>
            <a:ext cx="2606040" cy="54864"/>
          </a:xfrm>
          <a:prstGeom prst="rect">
            <a:avLst/>
          </a:prstGeom>
          <a:solidFill>
            <a:srgbClr val="0EA5A0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737360"/>
            <a:ext cx="365760" cy="365760"/>
          </a:xfrm>
          <a:prstGeom prst="ellipse">
            <a:avLst/>
          </a:prstGeom>
          <a:solidFill>
            <a:srgbClr val="0EA5A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801368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69164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Daily Operations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51560" y="193852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teams do their work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94360" y="2240280"/>
            <a:ext cx="2331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233172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outplanting events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size measurements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mortality &amp; fragmentation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corals between orgs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life stages &amp; locations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401568" y="1554480"/>
            <a:ext cx="2606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401568" y="1554480"/>
            <a:ext cx="260604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Shape 12"/>
          <p:cNvSpPr/>
          <p:nvPr/>
        </p:nvSpPr>
        <p:spPr>
          <a:xfrm>
            <a:off x="3538728" y="173736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736" y="1801368"/>
            <a:ext cx="237744" cy="23774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995928" y="169164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Automated Reporting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995928" y="193852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becomes insight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3538728" y="2240280"/>
            <a:ext cx="2331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584448" y="233172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Survival rates by genet &amp; site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curves over time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 diversity per reef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tissue area deployed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Chain-of-custody audit trails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6345936" y="1554480"/>
            <a:ext cx="2606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345936" y="1554480"/>
            <a:ext cx="2606040" cy="54864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23" name="Shape 19"/>
          <p:cNvSpPr/>
          <p:nvPr/>
        </p:nvSpPr>
        <p:spPr>
          <a:xfrm>
            <a:off x="6483096" y="1737360"/>
            <a:ext cx="365760" cy="365760"/>
          </a:xfrm>
          <a:prstGeom prst="ellipse">
            <a:avLst/>
          </a:prstGeom>
          <a:solidFill>
            <a:srgbClr val="F97066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4" y="1801368"/>
            <a:ext cx="237744" cy="23774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940296" y="169164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0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Stakeholder Impact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6940296" y="193852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restoration success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6483096" y="2240280"/>
            <a:ext cx="23317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528816" y="233172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NFWF grant milestone reporting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NOAA compliance documentation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&amp; sponsor updates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Peer-reviewed data exports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engagement metrics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3127248" y="2926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Text 25"/>
          <p:cNvSpPr/>
          <p:nvPr/>
        </p:nvSpPr>
        <p:spPr>
          <a:xfrm>
            <a:off x="6071616" y="2926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1" name="Shape 26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solidFill>
            <a:srgbClr val="FFF1F2"/>
          </a:solidFill>
          <a:ln/>
        </p:spPr>
      </p:sp>
      <p:sp>
        <p:nvSpPr>
          <p:cNvPr id="32" name="Text 27"/>
          <p:cNvSpPr/>
          <p:nvPr/>
        </p:nvSpPr>
        <p:spPr>
          <a:xfrm>
            <a:off x="640080" y="48006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Practitioners shouldn't have to choose between doing restoration and documenting it. Provenance makes reporting a byproduct of operations.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4572000" cy="4572000"/>
          </a:xfrm>
          <a:prstGeom prst="ellipse">
            <a:avLst/>
          </a:prstGeom>
          <a:solidFill>
            <a:srgbClr val="0F2847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286000"/>
            <a:ext cx="4572000" cy="4572000"/>
          </a:xfrm>
          <a:prstGeom prst="ellipse">
            <a:avLst/>
          </a:prstGeom>
          <a:solidFill>
            <a:srgbClr val="0F284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731520"/>
            <a:ext cx="59436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Provenance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3886200" y="2103120"/>
            <a:ext cx="1371600" cy="36576"/>
          </a:xfrm>
          <a:prstGeom prst="rect">
            <a:avLst/>
          </a:prstGeom>
          <a:solidFill>
            <a:srgbClr val="0EA5A0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Community Platform for Marine Restoration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2788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5-Axis Model  ·  Dual Identity  ·  Graph Navigation</a:t>
            </a:r>
            <a:endParaRPr lang="en-US" sz="14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Lifecycle  ·  Cross-Org Transfers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3611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infrastructure built for every mode of coral restoration.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Provenance Data Architecture</dc:title>
  <dc:subject>PptxGenJS Presentation</dc:subject>
  <dc:creator>Provenance</dc:creator>
  <cp:lastModifiedBy>Provenance</cp:lastModifiedBy>
  <cp:revision>1</cp:revision>
  <dcterms:created xsi:type="dcterms:W3CDTF">2026-02-21T22:48:24Z</dcterms:created>
  <dcterms:modified xsi:type="dcterms:W3CDTF">2026-02-21T22:48:24Z</dcterms:modified>
</cp:coreProperties>
</file>