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Architecture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Model  ·  Identity System  ·  Graph Navigation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Service  ·  Event-Driven Lifecycle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2286000" cy="36576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Aquaculture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GOT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Spreadsheets to a Unified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19202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SeaFoundry Legacy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  ·  437 PRs · Rails + React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Rails 7 · React 18 · TypeScript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Heroku · AWS S3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→ Group → Tray → FragCluster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 tracking with aliases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Outplanting events &amp; monitoring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photo logs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import, Retool dashboards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sensor &amp; gantry integration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Coral-only. Single-org. No inter-org transfers, offline, or mobile.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32888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1234440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Babelfish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2024  ·  CRC crosswalk prototype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24328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670048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· Vite · TypeScript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Prisma · Leaflet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24328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genotype crosswalk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CRF/Mote/FWC alias mapping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coral species, CRC accessions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 event tracking + maps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survival &amp; size bins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KML upload, ArcGIS export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24328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 only — no backend API. Read-only crosswalk, no write path.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08576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2344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NewFish v2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Apr–May 2025  ·  Next.js + AWS Lambda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00016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745736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 · Clerk · Prisma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 · S3 · Go parser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00016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coral species supported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 gene transfers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lineage model (crosswalk)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pipeline: upload → validate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Genetics, inventory, outplanting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requests &amp; data requests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0016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Coral-only still. CSV-first (no native mobile). No offline capability.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84264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84264" y="1234440"/>
            <a:ext cx="19202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75704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2024–Present  ·  Ground-up Flutter rewrite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775704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821424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+ Firebase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Mobile-first · Offline-capable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775704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organism kinds, species-agnostic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composable data model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with inter-org transfers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ID crosswalk system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immutable audit trail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YAML-configurable physical forms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75704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Organism-agnostic from day one. Any species, any workflow, any organization.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386584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462272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37960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iterations to get it right. Each taught us what the next one needed. Provenance is organism-agnostic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INVENTORY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Composable Dimensions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organism record is expressed through five neutral axes — supporting coral, oyster, kelp, seagrass, and beyond.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737360"/>
            <a:ext cx="15087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2578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Species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taxonomy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7170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71700" y="173736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217170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6314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26314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1762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17620" y="173736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381762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0906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0906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phase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6354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63540" y="173736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0"/>
          <p:cNvSpPr/>
          <p:nvPr/>
        </p:nvSpPr>
        <p:spPr>
          <a:xfrm>
            <a:off x="546354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3774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498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5498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unit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10946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09460" y="1737360"/>
            <a:ext cx="150876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1" name="Text 25"/>
          <p:cNvSpPr/>
          <p:nvPr/>
        </p:nvSpPr>
        <p:spPr>
          <a:xfrm>
            <a:off x="710946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3774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0090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Size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20090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measure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40080" y="4343400"/>
            <a:ext cx="73152" cy="4572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6" name="Text 29"/>
          <p:cNvSpPr/>
          <p:nvPr/>
        </p:nvSpPr>
        <p:spPr>
          <a:xfrm>
            <a:off x="82296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2296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1 &amp; 2 set at creation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474720" y="43434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2"/>
          <p:cNvSpPr/>
          <p:nvPr/>
        </p:nvSpPr>
        <p:spPr>
          <a:xfrm>
            <a:off x="365760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Mutable + Tracked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365760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3–5 evolve via events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309360" y="4343400"/>
            <a:ext cx="73152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35"/>
          <p:cNvSpPr/>
          <p:nvPr/>
        </p:nvSpPr>
        <p:spPr>
          <a:xfrm>
            <a:off x="649224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Organism-Agnostic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649224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across all species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Genets vs. Organism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  —  Genetic Lineage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DNA identity across all physical instances.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194560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2240280"/>
            <a:ext cx="54864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2221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name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00" y="2852928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8960" y="2898648"/>
            <a:ext cx="54864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880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" y="3127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ID (PID)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60320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PID-AP-0042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5800" y="3511296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108960" y="3557016"/>
            <a:ext cx="54864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3108960" y="3538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primary key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60320" y="3785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c9a1f2e8...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949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 —  Physical Instance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9834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fragment, colony, or batch tracked individually.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983480" y="2194560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29"/>
          <p:cNvSpPr/>
          <p:nvPr/>
        </p:nvSpPr>
        <p:spPr>
          <a:xfrm>
            <a:off x="5074920" y="2212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recordName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132320" y="2231136"/>
            <a:ext cx="640080" cy="16459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5" name="Text 31"/>
          <p:cNvSpPr/>
          <p:nvPr/>
        </p:nvSpPr>
        <p:spPr>
          <a:xfrm>
            <a:off x="7132320" y="2212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074920" y="2414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nickname  "Crimson"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2706624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4"/>
          <p:cNvSpPr/>
          <p:nvPr/>
        </p:nvSpPr>
        <p:spPr>
          <a:xfrm>
            <a:off x="5074920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132320" y="2743200"/>
            <a:ext cx="6400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6"/>
          <p:cNvSpPr/>
          <p:nvPr/>
        </p:nvSpPr>
        <p:spPr>
          <a:xfrm>
            <a:off x="7132320" y="2724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074920" y="29260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its genet  ACER-001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83480" y="3218688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39"/>
          <p:cNvSpPr/>
          <p:nvPr/>
        </p:nvSpPr>
        <p:spPr>
          <a:xfrm>
            <a:off x="5074920" y="3236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provenanceId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132320" y="3255264"/>
            <a:ext cx="6400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1"/>
          <p:cNvSpPr/>
          <p:nvPr/>
        </p:nvSpPr>
        <p:spPr>
          <a:xfrm>
            <a:off x="7132320" y="3236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5074920" y="34381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cross-org ID  PID-AP-0042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983480" y="3730752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4"/>
          <p:cNvSpPr/>
          <p:nvPr/>
        </p:nvSpPr>
        <p:spPr>
          <a:xfrm>
            <a:off x="507492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7132320" y="3767328"/>
            <a:ext cx="640080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Text 46"/>
          <p:cNvSpPr/>
          <p:nvPr/>
        </p:nvSpPr>
        <p:spPr>
          <a:xfrm>
            <a:off x="7132320" y="3749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5074920" y="39502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instance's key  d4e7a1b3...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3" name="Text 49"/>
          <p:cNvSpPr/>
          <p:nvPr/>
        </p:nvSpPr>
        <p:spPr>
          <a:xfrm>
            <a:off x="640080" y="459943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 + provenanceId = "What genetic lineage?"       recordName + UUID = "Which physical instance?"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GENET, MANY RECORDS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Concrete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ACER-001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cervicornis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PID: </a:t>
            </a:r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PID-AP-0042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collection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date: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2023-06-15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9144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12801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2801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"Crimson"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A · Nursery  ·  15 fragments · adult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1945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1945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"Blaze"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B · Nursery  ·  8 fragments · adult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1089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1089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"Reef Site 12"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 Zone C  ·  1 colony · adult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records share the same localId (ACER-001) and provenanceId — proving they are genetically identical.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recordName and UUID to distinguish the physical instance.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PROPAGATION &amp; MATURATION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Gametes to Tracked Individuals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97280"/>
            <a:ext cx="155448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Broodstock spawns.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+ sperm collected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280160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09728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× Sire gametes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 Creates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cohort.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2788920"/>
            <a:ext cx="128016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embryo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1097280"/>
            <a:ext cx="1554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8620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settle 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substrates. Counted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density per unit.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2788920"/>
            <a:ext cx="1280160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8620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 → juvenile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109728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7784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tracked as 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collective. Individuals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distinguished.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2788920"/>
            <a:ext cx="12801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62356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juvenile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4088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7804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41" name="Shape 39"/>
          <p:cNvSpPr/>
          <p:nvPr/>
        </p:nvSpPr>
        <p:spPr>
          <a:xfrm>
            <a:off x="7178040" y="109728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1780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6948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individuals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to solo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as adults.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2788920"/>
            <a:ext cx="12801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26948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 changes from cohort → sexual recruit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graduation. localId and provenanceId remain the same.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931920"/>
            <a:ext cx="3931920" cy="50292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sexually reproducing organisms: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coral, oyster, urchin, crab, finfish, sea cucumber.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636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form transitions: container (gametes) → shared substrate (settled cohort) → individual (graduated adult)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MODEL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Record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combination of axes produces a distinct record type — the same model handles all restoration use cases.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57400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Plug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graduated coral fragment mounted on a cement plug, tracked individually by name.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81328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cervicornis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9768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481328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81328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Fluffy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81328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sexualRecruit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481328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9768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81328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plug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9768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81328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(5–15 cm²)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481328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 cm²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9768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81328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Ex-Situ · Tank 3 · Tree 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27248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27248" y="1417320"/>
            <a:ext cx="2697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64608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36976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Wild-Collected Clipping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36976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cut from a wild colony during a field collection event. Unmounted fragment.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36976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288536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Orbicella faveolata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36976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288536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OFAV-WC-042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36976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288536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Boulder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36976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288536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36976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288536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36976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288536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branch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36976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88536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(15–50 cm²)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36976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288536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38.1 cm²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36976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288536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In-Situ · Reef Line A · Tree 12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34456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934456" y="141732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7" name="Shape 55"/>
          <p:cNvSpPr/>
          <p:nvPr/>
        </p:nvSpPr>
        <p:spPr>
          <a:xfrm>
            <a:off x="7671816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671816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44184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Cryopreserved Sperm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44184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sperm in a labeled vial. Size = density per volume. Volumetric counting mode.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44184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095744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palmata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44184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95744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APAL-BS-007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44184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095744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Straw 7-A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044184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095744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44184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95744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gamete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44184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095744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· vial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44184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095744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044184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095744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 sperm/mL · 0.5 mL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044184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095744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Bank · Cryo Dewar 2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7200" y="5102352"/>
            <a:ext cx="8229600" cy="2743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5102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one OrganismRecord in the database — localId links it to a genet, recordName distinguishes the physical instance.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MODEL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Examples Across Organisms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5-axis model is organism-agnostic — oysters, crabs, and other species use the exact same data structure.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57400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Settled Cohort on Tile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Sexually-crossed recruits settled on a ceramic tile. Batch-tracked by density per substrate.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81328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cervicornis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9768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481328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ACER-C24-001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81328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 14-B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81328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481328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 → juvenile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9768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81328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sharedSubstrate · tile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9768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81328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481328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recruits / tile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9768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81328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Ex-Situ · Tank 1 · Tray 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27248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27248" y="1417320"/>
            <a:ext cx="269748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64608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36976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Oyster Spat Bag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36976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of juvenile oysters in a mesh bag. High-density batch tracking by container.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36976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288536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Oyster · Crassostrea virginica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36976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288536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CVIR-H24-003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36976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288536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 3-East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36976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288536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36976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288536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36976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288536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sharedSubstrate · bag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36976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88536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36976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288536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~3,500 per bag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36976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288536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Reef Aquaculture · Oyster Lease B · Cage 4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34456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934456" y="1417320"/>
            <a:ext cx="2697480" cy="54864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7" name="Shape 55"/>
          <p:cNvSpPr/>
          <p:nvPr/>
        </p:nvSpPr>
        <p:spPr>
          <a:xfrm>
            <a:off x="7671816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671816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44184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Crab Broodstock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44184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Spawning adult crab held in a raceway. Tracked as individual broodstock for breeding program.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44184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095744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Crab · Callinectes sapidus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44184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95744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CSAP-BS-011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44184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095744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Queen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044184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095744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44184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95744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broodstock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44184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095744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44184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095744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044184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Carapace Width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095744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 cm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044184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095744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Grow-Out Pond · Raceway 2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7200" y="5102352"/>
            <a:ext cx="8229600" cy="2743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5102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invalid combinations: broodstock cannot be in a container, cohort requires shared substrate or container form.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PROPAGATION, SPLITS &amp; MERGES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One Genet Becomes Many Records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creates new records that inherit the same localId and provenanceId — the genetic thread is never broken.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463040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  ·  PID-AP-0042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205740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(Split)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 broken into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for nursery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colony · 450 cm²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4930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200 cm²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7216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frag-F1 · 80 cm²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9502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50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frag-F2 · 80 cm²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4663440"/>
            <a:ext cx="1600200" cy="182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records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1965960"/>
            <a:ext cx="2057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from same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 combined back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tracking unit.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0604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60604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records · same genet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1460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0604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60604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8" name="Shape 36"/>
          <p:cNvSpPr/>
          <p:nvPr/>
        </p:nvSpPr>
        <p:spPr>
          <a:xfrm>
            <a:off x="2606040" y="3493008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· 350 cm²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0" y="4663440"/>
            <a:ext cx="16002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 record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1965960"/>
            <a:ext cx="2057400" cy="457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distributed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different reef sites,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tracked solo.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84632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frags in Tank 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8A"/>
                </a:solidFill>
              </a:rPr>
              <a:t>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4632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84632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2" name="Shape 50"/>
          <p:cNvSpPr/>
          <p:nvPr/>
        </p:nvSpPr>
        <p:spPr>
          <a:xfrm>
            <a:off x="4846320" y="34930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Alpha · planted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37216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Beta · planted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39502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8" name="Shape 56"/>
          <p:cNvSpPr/>
          <p:nvPr/>
        </p:nvSpPr>
        <p:spPr>
          <a:xfrm>
            <a:off x="4846320" y="39502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9" name="Text 57"/>
          <p:cNvSpPr/>
          <p:nvPr/>
        </p:nvSpPr>
        <p:spPr>
          <a:xfrm>
            <a:off x="4937760" y="3950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A · remaining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983480" y="4663440"/>
            <a:ext cx="1600200" cy="18288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61" name="Text 59"/>
          <p:cNvSpPr/>
          <p:nvPr/>
        </p:nvSpPr>
        <p:spPr>
          <a:xfrm>
            <a:off x="498348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records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9516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995160" y="1965960"/>
            <a:ext cx="2057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708660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 Split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8660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cohort divided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substrates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structures.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08660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08660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713232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tile · 50 recruits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99516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↓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08660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08660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2" name="Shape 70"/>
          <p:cNvSpPr/>
          <p:nvPr/>
        </p:nvSpPr>
        <p:spPr>
          <a:xfrm>
            <a:off x="7086600" y="3493008"/>
            <a:ext cx="3657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717804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Tile-A · 25 recruits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08660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5" name="Shape 73"/>
          <p:cNvSpPr/>
          <p:nvPr/>
        </p:nvSpPr>
        <p:spPr>
          <a:xfrm>
            <a:off x="7086600" y="3721608"/>
            <a:ext cx="3657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717804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Tile-B · 25 recruits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223760" y="4663440"/>
            <a:ext cx="1600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722376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batch records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0" name="Text 78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preserve the localId + provenanceId link — the genetic thread is never broken regardless of physical form changes.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Genetic Relationships 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nature. Becomes broodstock — the foundation.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1887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broodstock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 + date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280160"/>
            <a:ext cx="1554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402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Cohort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from a cross. Links to dam &amp; sire gametes.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834640"/>
            <a:ext cx="118872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gamete IDs + cross date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280160"/>
            <a:ext cx="1554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9319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a batch to individual tracking.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2834640"/>
            <a:ext cx="1188720" cy="228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cohort linkage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3212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1280160"/>
            <a:ext cx="1554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6235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another organization.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15000" y="2834640"/>
            <a:ext cx="11887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organization ID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23760" y="1280160"/>
            <a:ext cx="15544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315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Unknown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not yet documented.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2834640"/>
            <a:ext cx="118872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Relationship Types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→ Offspring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damGameteIds +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sireGameteIds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06040" y="4041648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277063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Siblings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7063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parentGameteIds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4041648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 → Individual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1947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parentCohortId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03720" y="4041648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706831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Clonal (Asexual)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6831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localId +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donor lineage tracked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Family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926080" cy="77724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 · DAM (egg)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 "Aurora"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926080" cy="7772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109728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115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 · SIRE (sperm)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 "Titan"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188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 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874520"/>
            <a:ext cx="0" cy="3200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23760" y="1874520"/>
            <a:ext cx="0" cy="32004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920240" y="2194560"/>
            <a:ext cx="53035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331720"/>
            <a:ext cx="1645920" cy="365760"/>
          </a:xfrm>
          <a:prstGeom prst="ellipse">
            <a:avLst/>
          </a:prstGeom>
          <a:solidFill>
            <a:srgbClr val="2D1B4E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Cross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2926080"/>
            <a:ext cx="4572000" cy="64008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2926080"/>
            <a:ext cx="457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COHORT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"Aurora x Titan 2024"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356616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645920" y="3749040"/>
            <a:ext cx="58521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64592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2468880" cy="54864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3192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"Spark"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 · 3 frags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931920"/>
            <a:ext cx="2468880" cy="54864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35" name="Shape 33"/>
          <p:cNvSpPr/>
          <p:nvPr/>
        </p:nvSpPr>
        <p:spPr>
          <a:xfrm>
            <a:off x="3337560" y="393192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"Nova"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 · 5 frags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931920"/>
            <a:ext cx="2468880" cy="5486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0" y="3931920"/>
            <a:ext cx="45720" cy="548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"Comet"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graduation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52360" y="4480560"/>
            <a:ext cx="0" cy="2286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4526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17920" y="4709160"/>
            <a:ext cx="2468880" cy="320040"/>
          </a:xfrm>
          <a:prstGeom prst="rect">
            <a:avLst/>
          </a:prstGeom>
          <a:solidFill>
            <a:srgbClr val="0D3D47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"Comet" — individually tracked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parentGameteIds = full siblings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NODE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Navigation &amp; Reactive Streams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32004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children: sites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34440" y="2148840"/>
            <a:ext cx="73152" cy="3200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0" name="Text 8"/>
          <p:cNvSpPr/>
          <p:nvPr/>
        </p:nvSpPr>
        <p:spPr>
          <a:xfrm>
            <a:off x="1399032" y="2148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SiteNode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9032" y="23134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Nursery/reef · children: groups + organisms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56032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901952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2724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Tank/table · MovableNode · nestable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971800"/>
            <a:ext cx="73152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2404872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OrganismNode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04872" y="3136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instance · MovableNode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State Machine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749808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3749040"/>
            <a:ext cx="74980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5000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749040"/>
            <a:ext cx="749808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749040"/>
            <a:ext cx="749808" cy="2743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2344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4-Stream Bundle (per node)</a:t>
            </a:r>
            <a:endParaRPr lang="en-US" sz="13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5564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12080" y="1737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Stream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12080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record updates from Firestore</a:t>
            </a:r>
            <a:endParaRPr lang="en-US" sz="9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50008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12080" y="2331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Children Stream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1208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nodes (sites, groups, organisms)</a:t>
            </a:r>
            <a:endParaRPr lang="en-US" sz="9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44368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12080" y="2926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Stream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21208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descendant events by urlPath prefix</a:t>
            </a:r>
            <a:endParaRPr lang="en-US" sz="9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38728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1208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Stream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212080" y="3703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who created this record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846320" y="4160520"/>
            <a:ext cx="3566160" cy="3200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Text 39"/>
          <p:cNvSpPr/>
          <p:nvPr/>
        </p:nvSpPr>
        <p:spPr>
          <a:xfrm>
            <a:off x="493776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CombineLatestStream → LoadedState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7" name="Text 4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Uri-based navigation internally  ·  urlPath for deep links &amp; queries  ·  Lazy loading: only immediate descendants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SITES &amp; STRUCTURE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Organisms 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contain a 3-level structure hierarchy. Pro organizations can customize structure types per site.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3-Level Structure Hierarchy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3152" cy="5029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Nursery, reef, lab, gene bank, kelp farm...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2585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"Tavernier Nursery"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22402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6517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606040"/>
            <a:ext cx="73152" cy="50292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606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or life-support system grouping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29443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"Zone A — Broodstock"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17320" y="29260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33375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29184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4747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Tank, tree, table, raceway, dome, cage...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6301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"Tank 1" · "Tree 5"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74520" y="36118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40233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977640"/>
            <a:ext cx="73152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214884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41605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Tray, branch, grid cell, tag, bag, rack...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48840" y="43159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"Tray 1-A" · "Branch 3"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3749040" cy="2286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attach to structures and substructures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4630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Types (15+)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874520"/>
            <a:ext cx="36576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188366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Nursery (ex situ)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2002536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Land-based tanks, raceways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46720" y="1911096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1892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29200" y="2176272"/>
            <a:ext cx="36576" cy="256032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21854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Nursery (in situ)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2304288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trees, tables, cradles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46720" y="2212848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0" y="2478024"/>
            <a:ext cx="36576" cy="25603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248716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38928" y="260604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reef restoration areas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46720" y="2514600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9200" y="2779776"/>
            <a:ext cx="36576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138928" y="278892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Bank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38928" y="2907792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preservation facility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046720" y="2816352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0" y="27980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29200" y="3081528"/>
            <a:ext cx="36576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5138928" y="30906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Kelp Farm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38928" y="320954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Longline aquaculture in open ocean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046720" y="3118104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7" name="Text 55"/>
          <p:cNvSpPr/>
          <p:nvPr/>
        </p:nvSpPr>
        <p:spPr>
          <a:xfrm>
            <a:off x="8046720" y="3099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029200" y="3383280"/>
            <a:ext cx="36576" cy="2560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9" name="Text 57"/>
          <p:cNvSpPr/>
          <p:nvPr/>
        </p:nvSpPr>
        <p:spPr>
          <a:xfrm>
            <a:off x="5138928" y="33924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Reef Aquaculture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38928" y="3511296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Oyster/shellfish reef farming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46720" y="3419856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62" name="Text 60"/>
          <p:cNvSpPr/>
          <p:nvPr/>
        </p:nvSpPr>
        <p:spPr>
          <a:xfrm>
            <a:off x="8046720" y="34015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029200" y="3685032"/>
            <a:ext cx="36576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5138928" y="369417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Seagrass Plot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38928" y="3813048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and monitoring plots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046720" y="3721608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67" name="Text 65"/>
          <p:cNvSpPr/>
          <p:nvPr/>
        </p:nvSpPr>
        <p:spPr>
          <a:xfrm>
            <a:off x="8046720" y="3703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29200" y="3986784"/>
            <a:ext cx="3657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5138928" y="39959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Grow-Out Pond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38928" y="411480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pond for crab, urchin, finfish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046720" y="4023360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8046720" y="40050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029200" y="4288536"/>
            <a:ext cx="3657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5138928" y="42976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Raceway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138928" y="4416552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Flow-through finfish culture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046720" y="4325112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8046720" y="4306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029200" y="4590288"/>
            <a:ext cx="36576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9" name="Text 77"/>
          <p:cNvSpPr/>
          <p:nvPr/>
        </p:nvSpPr>
        <p:spPr>
          <a:xfrm>
            <a:off x="5138928" y="45994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Site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138928" y="47183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release location tracking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8046720" y="4626864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82" name="Text 80"/>
          <p:cNvSpPr/>
          <p:nvPr/>
        </p:nvSpPr>
        <p:spPr>
          <a:xfrm>
            <a:off x="8046720" y="46085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4" name="Text 82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organizations can customize allowed structure types per site type and add organism-specific structures (domes, cages, longlines, bags).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METADATA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Lives on an Organism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recordName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 · provenanceId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speciesId · organismKind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234440"/>
            <a:ext cx="2651760" cy="45720"/>
          </a:xfrm>
          <a:prstGeom prst="rect">
            <a:avLst/>
          </a:prstGeom>
          <a:solidFill>
            <a:srgbClr val="0EA5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siteId · groupId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zoneId · subplotId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23444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State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lifeStage (LifeStageSpec)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physicalForm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sizeSpec · measurement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78892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260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provenanceType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provenanceAttributes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(dam/sire/cohort refs)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788920"/>
            <a:ext cx="2651760" cy="45720"/>
          </a:xfrm>
          <a:prstGeom prst="rect">
            <a:avLst/>
          </a:prstGeom>
          <a:solidFill>
            <a:srgbClr val="0D6E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260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ownerOrganizationId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managingOrganizationId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custodyHistory[]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7889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2608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foreignKeys map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aliases list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 score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5537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Score (0–100%): Tracks populated fields per record, surfacing data gaps in the UI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Events Modify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8288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life stage,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location,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quantity,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Changes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ChangeService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before/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field diffs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8016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 Event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Firestore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snapshotData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32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2801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2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Record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updated,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appended,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emits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Categories (40+ types)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3756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LifeStageTransition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PhysicalFormChange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SizeChange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QuantityChange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0604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06040" y="3337560"/>
            <a:ext cx="196596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271576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1576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Move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Mortality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· Merge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3756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· Bleaching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Biofouling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333756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01344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1344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Husbandry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Reproductive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Environmental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828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stores snapshotData = complete record state at that moment → enabling "time travel" to any point in history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INTER-ORG TRANSFER SERVICE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Cross-Organization Transfers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Status State Machine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8872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508760"/>
            <a:ext cx="11887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118872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1188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1005840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417320"/>
            <a:ext cx="1005840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 states — any non-terminal can reach these)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Ownership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2316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Transfer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becomes owner + manager.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handoff of all rights.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3756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7560" y="2423160"/>
            <a:ext cx="54864" cy="1188720"/>
          </a:xfrm>
          <a:prstGeom prst="rect">
            <a:avLst/>
          </a:prstGeom>
          <a:solidFill>
            <a:srgbClr val="0D6E8A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51460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88620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Retained Ownership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5204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ownership.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manages day-to-day.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21792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0" y="242316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1460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6656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Third-Party Transfer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4008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when organism's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differs from sender.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Manifest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57200" y="4023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 for verification &amp; cross-org sharing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57200" y="4297680"/>
            <a:ext cx="54864" cy="25603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0" name="Text 35"/>
          <p:cNvSpPr/>
          <p:nvPr/>
        </p:nvSpPr>
        <p:spPr>
          <a:xfrm>
            <a:off x="59436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From/To Org Snapshots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337560" y="4297680"/>
            <a:ext cx="54864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37"/>
          <p:cNvSpPr/>
          <p:nvPr/>
        </p:nvSpPr>
        <p:spPr>
          <a:xfrm>
            <a:off x="347472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 Snapshot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217920" y="4297680"/>
            <a:ext cx="54864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39"/>
          <p:cNvSpPr/>
          <p:nvPr/>
        </p:nvSpPr>
        <p:spPr>
          <a:xfrm>
            <a:off x="635508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Checksum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57200" y="4663440"/>
            <a:ext cx="54864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1"/>
          <p:cNvSpPr/>
          <p:nvPr/>
        </p:nvSpPr>
        <p:spPr>
          <a:xfrm>
            <a:off x="59436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Payload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337560" y="4663440"/>
            <a:ext cx="54864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3"/>
          <p:cNvSpPr/>
          <p:nvPr/>
        </p:nvSpPr>
        <p:spPr>
          <a:xfrm>
            <a:off x="347472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217920" y="4663440"/>
            <a:ext cx="54864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5"/>
          <p:cNvSpPr/>
          <p:nvPr/>
        </p:nvSpPr>
        <p:spPr>
          <a:xfrm>
            <a:off x="635508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Chain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OF CUSTODY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Ownership Across Organizations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0" cy="777240"/>
          </a:xfrm>
          <a:prstGeom prst="line">
            <a:avLst/>
          </a:prstGeom>
          <a:noFill/>
          <a:ln w="25400">
            <a:solidFill>
              <a:srgbClr val="0F28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14300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143000"/>
            <a:ext cx="4572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161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2023-06 → 2024-03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399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5819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581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234440"/>
            <a:ext cx="14630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234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creation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0" y="1234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collection by Reef Lab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182880" cy="182880"/>
          </a:xfrm>
          <a:prstGeom prst="ellipse">
            <a:avLst/>
          </a:prstGeom>
          <a:solidFill>
            <a:srgbClr val="0D6E8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514600"/>
            <a:ext cx="0" cy="777240"/>
          </a:xfrm>
          <a:prstGeom prst="line">
            <a:avLst/>
          </a:prstGeom>
          <a:noFill/>
          <a:ln w="25400">
            <a:solidFill>
              <a:srgbClr val="0F28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14884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148840"/>
            <a:ext cx="45720" cy="82296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1671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 → 2025-01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048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5877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5877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240280"/>
            <a:ext cx="1463040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retainedOwnership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 retains ownership,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 manages daily care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329184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5468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" y="3154680"/>
            <a:ext cx="45720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172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 → present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410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91640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593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35935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3246120"/>
            <a:ext cx="1463040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fullTransfer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transferred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Ocean Nursery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CustodyHistoryEntry Fields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ownerOrgId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0312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owner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managingOrgId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manager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start date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0312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transfer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transferType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model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text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ID CROSSWALK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Genotype, Many Names, One PID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uses its own local naming convention — the crosswalk service maps them all to a single Provenance ID.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6459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PID-APAL-0001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457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Restoration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AP-5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943100"/>
            <a:ext cx="1097280" cy="6629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2918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91840"/>
            <a:ext cx="4572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Renewal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APAL-025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680460"/>
            <a:ext cx="1097280" cy="-10744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40880" y="155448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55448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 Marine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965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HG1824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1943100"/>
            <a:ext cx="-1645920" cy="6629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040880" y="32918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3291840"/>
            <a:ext cx="45720" cy="7772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7804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AP001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680460"/>
            <a:ext cx="-1645920" cy="-1074420"/>
          </a:xfrm>
          <a:prstGeom prst="line">
            <a:avLst/>
          </a:prstGeom>
          <a:noFill/>
          <a:ln w="19050">
            <a:solidFill>
              <a:srgbClr val="F9706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560320" y="1965960"/>
            <a:ext cx="402336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aliases resolve to the same biological genotype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51960"/>
            <a:ext cx="8229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LocalId Rename — PID Preserved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645152"/>
            <a:ext cx="2377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CRF renames AP-5 → APAL-CRF-5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4645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383280" y="4645152"/>
            <a:ext cx="237744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alias_index updated atomically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4645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4645152"/>
            <a:ext cx="2377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PID-APAL-0001 unchanged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NFWF-FUNDED DEVELOPMENT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 Foundation for Restoration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 investment builds the freely available core that every restoration practitioner can use.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0F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TIER  —  Free, Open Source, Web-Based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01168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Multi-Species Inventory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5156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model supporting coral, oyster,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kelp, seagrass — any marine organism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63440" y="201168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4" name="Shape 10"/>
          <p:cNvSpPr/>
          <p:nvPr/>
        </p:nvSpPr>
        <p:spPr>
          <a:xfrm>
            <a:off x="4663440" y="201168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214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Tracking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25780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genetic lineage: wild collection,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crosses, cohorts, graduation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278892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9864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Outplanting Management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05156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organisms from nursery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reef with site/zone mapping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63440" y="278892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4" name="Shape 18"/>
          <p:cNvSpPr/>
          <p:nvPr/>
        </p:nvSpPr>
        <p:spPr>
          <a:xfrm>
            <a:off x="4663440" y="278892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89864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7800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Monitoring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257800" y="3044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survival, health observations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outplant sites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356616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" y="356616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7588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5156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Inter-Org Transfers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05156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organisms across organizations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chain of custody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63440" y="3566160"/>
            <a:ext cx="3977640" cy="658368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4" name="Shape 26"/>
          <p:cNvSpPr/>
          <p:nvPr/>
        </p:nvSpPr>
        <p:spPr>
          <a:xfrm>
            <a:off x="4663440" y="356616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67588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5780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Architecture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25780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 + Record dual identity system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precise genetic tracking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39" name="Text 30"/>
          <p:cNvSpPr/>
          <p:nvPr/>
        </p:nvSpPr>
        <p:spPr>
          <a:xfrm>
            <a:off x="640080" y="44622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 funding creates shared infrastructure that lowers the barrier for every restoration program.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fees. No vendor lock-in. Interoperable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 + Commercial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NFWF-funded community features form the base. Commercial tiers fund ongoing development and hosted services.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1463040"/>
            <a:ext cx="192024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 Funded · Free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92040" y="1463040"/>
            <a:ext cx="1920240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· $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040880" y="1463040"/>
            <a:ext cx="19202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$$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2996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(5-axis model)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02996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02996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02996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24028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Outplanting + Basic Monitoring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22402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2402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0880" y="22402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450592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45059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 Transfers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24505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4505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40880" y="245059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660904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266090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ID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26609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26609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6609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871216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87121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Offline Sync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287121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87121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0" y="287121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081528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08152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Monitoring (KML/Shapefiles)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0" y="30815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0815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0815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291840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29184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Husbandry + Observations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0" y="32918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2918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040880" y="32918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3502152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350215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Hosting + Comments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0" y="3502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92040" y="3502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040880" y="350215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" y="3712464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371246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+ Scheduling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0" y="371246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92040" y="371246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40880" y="371246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3922776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392277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AI Assistant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43200" y="392277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92040" y="392277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040880" y="392277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4133088"/>
            <a:ext cx="8503920" cy="2103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413308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+ Training Modules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0" y="41330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92040" y="41330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040880" y="413308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57200" y="4343400"/>
            <a:ext cx="8503920" cy="210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43434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Permit/Grant Reporting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743200" y="434340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892040" y="434340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40880" y="434340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57200" y="2871216"/>
            <a:ext cx="8503920" cy="0"/>
          </a:xfrm>
          <a:prstGeom prst="line">
            <a:avLst/>
          </a:prstGeom>
          <a:noFill/>
          <a:ln w="19050">
            <a:solidFill>
              <a:srgbClr val="F97066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20040" y="2029968"/>
            <a:ext cx="73152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6" name="Shape 74"/>
          <p:cNvSpPr/>
          <p:nvPr/>
        </p:nvSpPr>
        <p:spPr>
          <a:xfrm>
            <a:off x="320040" y="2871216"/>
            <a:ext cx="73152" cy="1682496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4645152"/>
            <a:ext cx="822960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8" name="Text 76"/>
          <p:cNvSpPr/>
          <p:nvPr/>
        </p:nvSpPr>
        <p:spPr>
          <a:xfrm>
            <a:off x="640080" y="46725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revenue funds continued open-source development, infrastructure maintenance, and community support.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CENTRALLY HOSTED SERVICES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Infrastructure for the Community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capabilities require centrally maintained services that benefit all tiers.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ID Service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0" y="1554480"/>
            <a:ext cx="6400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536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21792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PID registry ensuring unique, cross-organization genetic identifiers. Every PID (PID-XX-NNNN) is minted centrally to prevent collisions across the entire restoration community.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463040"/>
            <a:ext cx="54864" cy="1005840"/>
          </a:xfrm>
          <a:prstGeom prst="rect">
            <a:avLst/>
          </a:prstGeom>
          <a:solidFill>
            <a:srgbClr val="0D6E8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5727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Feed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863840" y="1554480"/>
            <a:ext cx="640080" cy="18288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7" name="Text 13"/>
          <p:cNvSpPr/>
          <p:nvPr/>
        </p:nvSpPr>
        <p:spPr>
          <a:xfrm>
            <a:off x="7863840" y="1536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828032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 board connecting restoration practitioners. Post updates, share outplanting results, coordinate across organizations — a professional network for marine restoration.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2606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2606040"/>
            <a:ext cx="54864" cy="100584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157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2679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Cloud Infrastructure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0" y="2697480"/>
            <a:ext cx="64008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19"/>
          <p:cNvSpPr/>
          <p:nvPr/>
        </p:nvSpPr>
        <p:spPr>
          <a:xfrm>
            <a:off x="3657600" y="2679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21792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real-time database sync, cloud functions for transfer orchestration, and storage for images and documents. Foundation for offline-first architecture.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663440" y="2606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260604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1576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12080" y="2679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Hosting + Storage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863840" y="2697480"/>
            <a:ext cx="6400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5"/>
          <p:cNvSpPr/>
          <p:nvPr/>
        </p:nvSpPr>
        <p:spPr>
          <a:xfrm>
            <a:off x="7863840" y="2679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Pro+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828032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media storage for organism photos, monitoring images, and documentation. Enables visual tracking of health, growth, and outplant success over time.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57200" y="3749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" y="3749040"/>
            <a:ext cx="54864" cy="10058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858768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00584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Sebastian AI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3657600" y="3840480"/>
            <a:ext cx="640080" cy="182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8" name="Text 31"/>
          <p:cNvSpPr/>
          <p:nvPr/>
        </p:nvSpPr>
        <p:spPr>
          <a:xfrm>
            <a:off x="3657600" y="3822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621792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trained on restoration best practices. Helps with data entry, anomaly detection, and operational recommendations for Scale-tier organizations.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4663440" y="374904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663440" y="374904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85876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1208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Permit/Grant Reporting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7863840" y="3840480"/>
            <a:ext cx="6400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37"/>
          <p:cNvSpPr/>
          <p:nvPr/>
        </p:nvSpPr>
        <p:spPr>
          <a:xfrm>
            <a:off x="7863840" y="38221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4828032" y="4114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 generation for NFWF deliverables, ESA permits, and grant compliance. Pulls real inventory and monitoring data into structured templates.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8" name="Text 40"/>
          <p:cNvSpPr/>
          <p:nvPr/>
        </p:nvSpPr>
        <p:spPr>
          <a:xfrm>
            <a:off x="640080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services are sustained through commercial tier subscriptions, ensuring long-term viability without grant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NFWF Investment as a Catalyst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23774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2331720" y="1298448"/>
            <a:ext cx="68580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1280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— NFWF Foundation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inventory + provenance system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 transfer service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monitoring + outplanting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web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697480" cy="23774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88720"/>
            <a:ext cx="2697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298448"/>
            <a:ext cx="685800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280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— Practitioner Adoption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field work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data collection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monitoring + husbandry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hosting + collaboration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97480" cy="23774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1887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092440" y="1298448"/>
            <a:ext cx="68580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1280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 — Ecosystem Scale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6916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operations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reporting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management + training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analytics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58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for NFWF</a:t>
            </a:r>
            <a:endParaRPr lang="en-US" sz="14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87552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investment creates permanent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infrastructure, not throwaway tools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20624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76472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tiers fund maintenance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free community platform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20624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65392" y="4160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 model enables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cross-program analytics for NFWF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Rich Inventory Model Enables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5 axes per record — not just species and location — unlocks powerful analytical capabilities across the restoration pipeline.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347472" cy="34747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Rate Tracking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bands + life stage transitions over time reveal per-genet growth rates. Compare performance across nursery conditions, sites, and seasons.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4408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554480"/>
            <a:ext cx="26060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1568" y="173736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0136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Maturation Rate Analysis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1568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timestamps (juvenile → adult) per organism kind let you measure maturation timelines and identify fast-growing genets.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71616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71616" y="155448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5"/>
          <p:cNvSpPr/>
          <p:nvPr/>
        </p:nvSpPr>
        <p:spPr>
          <a:xfrm>
            <a:off x="6208776" y="173736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0136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65976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Diversity at Outplanting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08776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record carries a localId linked to a genet, you can measure how many unique genets reached each reef site — critical for resilience.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2461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0"/>
          <p:cNvSpPr/>
          <p:nvPr/>
        </p:nvSpPr>
        <p:spPr>
          <a:xfrm>
            <a:off x="594360" y="342900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&amp; Tissue Area Deployed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943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 + size band data lets you calculate total tissue area and volume outplanted per site, genet, or species.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64408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64408" y="3246120"/>
            <a:ext cx="26060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1" name="Shape 25"/>
          <p:cNvSpPr/>
          <p:nvPr/>
        </p:nvSpPr>
        <p:spPr>
          <a:xfrm>
            <a:off x="3401568" y="3429000"/>
            <a:ext cx="347472" cy="347472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49300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Provenance-Aware Reporting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401568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provenance types mean you can report on wild-collected vs. sexually propagated vs. fragmented stock separately.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71616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71616" y="32461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0"/>
          <p:cNvSpPr/>
          <p:nvPr/>
        </p:nvSpPr>
        <p:spPr>
          <a:xfrm>
            <a:off x="6208776" y="34290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493008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65976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Cross-Org Comparisons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08776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axes + the PID crosswalk enable apples-to-apples comparisons of restoration outcomes across organizations.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2" name="Text 34"/>
          <p:cNvSpPr/>
          <p:nvPr/>
        </p:nvSpPr>
        <p:spPr>
          <a:xfrm>
            <a:off x="640080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 axes, you're limited to counting organisms. With them, you can measure restoration effectiveness.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DATA TO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Field Work to Funder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powering daily operations also produces the reports funders and regulators need — no separate data entry required.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365760" cy="36576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Operations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do their work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outplanting events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size measurements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mortality &amp; fragmentation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corals between orgs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life stages &amp; locations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01568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01568" y="155448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8728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80136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95928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Reporting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95928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insight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38728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84448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rates by genet &amp; site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curves over time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diversity per reef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tissue area deployed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audit trails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45936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45936" y="1554480"/>
            <a:ext cx="26060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3" name="Shape 19"/>
          <p:cNvSpPr/>
          <p:nvPr/>
        </p:nvSpPr>
        <p:spPr>
          <a:xfrm>
            <a:off x="6483096" y="1737360"/>
            <a:ext cx="365760" cy="36576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80136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40296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Impact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940296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restoration success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83096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28816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 grant milestone reporting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compliance documentation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&amp; sponsor updates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data exports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metrics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127248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071616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shouldn't have to choose between doing restoration and documenting it. Provenance makes reporting a byproduct of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59436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886200" y="2103120"/>
            <a:ext cx="1371600" cy="36576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Core  ·  Hosted Services  ·  Commercial Sustainability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Model  ·  Dual Identity  ·  Graph Navigation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Lifecycle  ·  Cross-Org Transfers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NFWF-funded infrastructure enabling restoration at scale.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Provenance Data Architecture</dc:title>
  <dc:subject>PptxGenJS Presentation</dc:subject>
  <dc:creator>Provenance</dc:creator>
  <cp:lastModifiedBy>Provenance</cp:lastModifiedBy>
  <cp:revision>1</cp:revision>
  <dcterms:created xsi:type="dcterms:W3CDTF">2026-02-21T22:48:23Z</dcterms:created>
  <dcterms:modified xsi:type="dcterms:W3CDTF">2026-02-21T22:48:23Z</dcterms:modified>
</cp:coreProperties>
</file>